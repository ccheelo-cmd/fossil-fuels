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 Yesterday I argued we should cut fossil fuels. You all saw that talk, so I won't recap it. Today I want to make the most honest counter-argument I can — not because I've changed my mind on climate change, but because the picture I painted was incomplete. The story today is simple: reliable energy is survival, and clean energy alone can't guarantee it yet — not in Lusaka, and not in Alberta.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Quick grounding before the argument. Fossil fuels are just stored ancient sunlight — plants and ocean plankton, buried and cooked over millions of years into coal, oil and gas. Burning them releases that stored energy, and the CO₂ that comes with it. They're still roughly 80% of all the energy humanity uses — not just electricity, but transport, heat, and the steel, cement and fertilizer modern life is built from. Hold that scale in mind for everything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This is what I want you to walk out of the room remembering. Reliable energy is survival — and the clean-energy-only plan can't guarantee it yet. We have lived proof on two continents: Zambia's drought and a Canadian winter. So the honest answer isn't abandonment — it's a managed transition. Let me show you how I got there.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We lived this. We did the 'clean' thing — 85% of our installed capacity is hydropower. Then the climate broke our climate solution. The 2024 drought collapsed reservoir levels and ZESCO ran load shedding of up to 21 hours a day. The lesson is NOT 'burn more coal.' The lesson is: firm, dispatchable power matters, and pretending otherwise is paid for in dark hospitals and empty cold-chains.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And it isn't only the poor South. In January 2024, Alberta — a rich, modern province — hit a minus-forty cold snap. Demand smashed a record at 12,384 megawatts. The province has over six thousand megawatts of wind and solar, but at the evening peak the sun had set and the wind was calm, so it delivered almost nothing. The grid fell to TEN megawatts of reserve and the government sent an emergency text telling everyone to cut power to essentials. Gas-fired plants carried the province. And remember — worldwide, cold kills about nine times as many people as heat. In most of the cold world, staying warm runs on fossil fuels: gas heats roughly half of Canadian homes. 'No fossil fuels' in a minus-thirty winter means no heat.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Now the justice layer. Every wealthy country on Earth got rich by burning coal, then oil, then gas. They are now asking the continent that contributed least to the problem to skip that ladder — using clean-energy technology whose OWN supply chain still runs on fossil fuels. That's not a climate plan. That's an injustice with a green sticker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This is the Hans Rosling curve. Below about three thousand kilowatt-hours per person per year, every additional kilowatt-hour translates directly into life-years — through clinics, refrigerated vaccines, lit classrooms, water pumps. Zambia is right on the steep part of that curve. Cutting energy access there costs life-years immediately. That's why the moral arithmetic doesn't end with climate.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 I'm not arguing fossil fuels forever. I'm arguing for a MANAGED transition. Natural gas as a bridge — emits half what coal does, and it's the firm power that carried Alberta and would have spared Zambia; Africa holds 13% of global reserves. Renewables scaled aggressively on top — solar in Zambia is already the cheapest new capacity. And firm power kept on until storage and grid infrastructure can stand alone. That's how we keep the lights and the heat on while decarbonising.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for Q&amp;A. If anyone questions a stat, the source is here. Full URLs are in the repo's research/notes.md.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89120" y="0"/>
            <a:ext cx="146304" cy="6858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3474720" cy="457200"/>
          </a:xfrm>
          <a:prstGeom prst="rect">
            <a:avLst/>
          </a:prstGeom>
          <a:noFill/>
        </p:spPr>
        <p:txBody>
          <a:bodyPr wrap="square" lIns="0" rIns="0" tIns="0" bIns="0" anchor="t">
            <a:spAutoFit/>
          </a:bodyPr>
          <a:lstStyle/>
          <a:p>
            <a:pPr algn="l"/>
            <a:r>
              <a:rPr sz="1200" b="1">
                <a:solidFill>
                  <a:srgbClr val="D97706"/>
                </a:solidFill>
                <a:latin typeface="Calibri"/>
              </a:rPr>
              <a:t>FOLLOW-UP</a:t>
            </a:r>
          </a:p>
        </p:txBody>
      </p:sp>
      <p:sp>
        <p:nvSpPr>
          <p:cNvPr id="5" name="TextBox 4"/>
          <p:cNvSpPr txBox="1"/>
          <p:nvPr/>
        </p:nvSpPr>
        <p:spPr>
          <a:xfrm>
            <a:off x="548640" y="2468880"/>
            <a:ext cx="3474720" cy="914400"/>
          </a:xfrm>
          <a:prstGeom prst="rect">
            <a:avLst/>
          </a:prstGeom>
          <a:noFill/>
        </p:spPr>
        <p:txBody>
          <a:bodyPr wrap="square" lIns="0" rIns="0" tIns="0" bIns="0" anchor="t">
            <a:spAutoFit/>
          </a:bodyPr>
          <a:lstStyle/>
          <a:p>
            <a:pPr algn="l"/>
            <a:r>
              <a:rPr sz="4600" b="1">
                <a:solidFill>
                  <a:srgbClr val="FFFFFF"/>
                </a:solidFill>
                <a:latin typeface="Calibri"/>
              </a:rPr>
              <a:t>The Case</a:t>
            </a:r>
          </a:p>
        </p:txBody>
      </p:sp>
      <p:sp>
        <p:nvSpPr>
          <p:cNvPr id="6" name="TextBox 5"/>
          <p:cNvSpPr txBox="1"/>
          <p:nvPr/>
        </p:nvSpPr>
        <p:spPr>
          <a:xfrm>
            <a:off x="548640" y="3154680"/>
            <a:ext cx="3474720" cy="914400"/>
          </a:xfrm>
          <a:prstGeom prst="rect">
            <a:avLst/>
          </a:prstGeom>
          <a:noFill/>
        </p:spPr>
        <p:txBody>
          <a:bodyPr wrap="square" lIns="0" rIns="0" tIns="0" bIns="0" anchor="t">
            <a:spAutoFit/>
          </a:bodyPr>
          <a:lstStyle/>
          <a:p>
            <a:pPr algn="l"/>
            <a:r>
              <a:rPr sz="4600" b="1">
                <a:solidFill>
                  <a:srgbClr val="FFFFFF"/>
                </a:solidFill>
                <a:latin typeface="Calibri"/>
              </a:rPr>
              <a:t>For Fossil</a:t>
            </a:r>
          </a:p>
        </p:txBody>
      </p:sp>
      <p:sp>
        <p:nvSpPr>
          <p:cNvPr id="7" name="TextBox 6"/>
          <p:cNvSpPr txBox="1"/>
          <p:nvPr/>
        </p:nvSpPr>
        <p:spPr>
          <a:xfrm>
            <a:off x="548640" y="3840480"/>
            <a:ext cx="3474720" cy="914400"/>
          </a:xfrm>
          <a:prstGeom prst="rect">
            <a:avLst/>
          </a:prstGeom>
          <a:noFill/>
        </p:spPr>
        <p:txBody>
          <a:bodyPr wrap="square" lIns="0" rIns="0" tIns="0" bIns="0" anchor="t">
            <a:spAutoFit/>
          </a:bodyPr>
          <a:lstStyle/>
          <a:p>
            <a:pPr algn="l"/>
            <a:r>
              <a:rPr sz="4600" b="1">
                <a:solidFill>
                  <a:srgbClr val="FFFFFF"/>
                </a:solidFill>
                <a:latin typeface="Calibri"/>
              </a:rPr>
              <a:t>Fuels</a:t>
            </a:r>
          </a:p>
        </p:txBody>
      </p:sp>
      <p:sp>
        <p:nvSpPr>
          <p:cNvPr id="8" name="TextBox 7"/>
          <p:cNvSpPr txBox="1"/>
          <p:nvPr/>
        </p:nvSpPr>
        <p:spPr>
          <a:xfrm>
            <a:off x="548640" y="5029200"/>
            <a:ext cx="3474720" cy="365760"/>
          </a:xfrm>
          <a:prstGeom prst="rect">
            <a:avLst/>
          </a:prstGeom>
          <a:noFill/>
        </p:spPr>
        <p:txBody>
          <a:bodyPr wrap="square" lIns="0" rIns="0" tIns="0" bIns="0" anchor="t">
            <a:spAutoFit/>
          </a:bodyPr>
          <a:lstStyle/>
          <a:p>
            <a:pPr algn="l"/>
            <a:r>
              <a:rPr sz="1400" b="0">
                <a:solidFill>
                  <a:srgbClr val="DBE5F1"/>
                </a:solidFill>
                <a:latin typeface="Calibri"/>
              </a:rPr>
              <a:t>A steelman counter-argument</a:t>
            </a:r>
          </a:p>
        </p:txBody>
      </p:sp>
      <p:sp>
        <p:nvSpPr>
          <p:cNvPr id="9" name="TextBox 8"/>
          <p:cNvSpPr txBox="1"/>
          <p:nvPr/>
        </p:nvSpPr>
        <p:spPr>
          <a:xfrm>
            <a:off x="4937760" y="1828800"/>
            <a:ext cx="6858000" cy="365760"/>
          </a:xfrm>
          <a:prstGeom prst="rect">
            <a:avLst/>
          </a:prstGeom>
          <a:noFill/>
        </p:spPr>
        <p:txBody>
          <a:bodyPr wrap="square" lIns="0" rIns="0" tIns="0" bIns="0" anchor="t">
            <a:spAutoFit/>
          </a:bodyPr>
          <a:lstStyle/>
          <a:p>
            <a:pPr algn="l"/>
            <a:r>
              <a:rPr sz="1100" b="1">
                <a:solidFill>
                  <a:srgbClr val="9CA3AF"/>
                </a:solidFill>
                <a:latin typeface="Calibri"/>
              </a:rPr>
              <a:t>TODAY</a:t>
            </a:r>
          </a:p>
        </p:txBody>
      </p:sp>
      <p:sp>
        <p:nvSpPr>
          <p:cNvPr id="10" name="TextBox 9"/>
          <p:cNvSpPr txBox="1"/>
          <p:nvPr/>
        </p:nvSpPr>
        <p:spPr>
          <a:xfrm>
            <a:off x="4937760" y="2286000"/>
            <a:ext cx="6858000" cy="1463040"/>
          </a:xfrm>
          <a:prstGeom prst="rect">
            <a:avLst/>
          </a:prstGeom>
          <a:noFill/>
        </p:spPr>
        <p:txBody>
          <a:bodyPr wrap="square" lIns="0" rIns="0" tIns="0" bIns="0" anchor="t">
            <a:spAutoFit/>
          </a:bodyPr>
          <a:lstStyle/>
          <a:p>
            <a:pPr algn="l"/>
            <a:r>
              <a:rPr sz="3000" b="1">
                <a:solidFill>
                  <a:srgbClr val="1F2937"/>
                </a:solidFill>
                <a:latin typeface="Calibri"/>
              </a:rPr>
              <a:t>Keeping the lights —
and the heat — on.</a:t>
            </a:r>
          </a:p>
        </p:txBody>
      </p:sp>
      <p:sp>
        <p:nvSpPr>
          <p:cNvPr id="11" name="TextBox 10"/>
          <p:cNvSpPr txBox="1"/>
          <p:nvPr/>
        </p:nvSpPr>
        <p:spPr>
          <a:xfrm>
            <a:off x="4937760" y="3840480"/>
            <a:ext cx="6858000" cy="822960"/>
          </a:xfrm>
          <a:prstGeom prst="rect">
            <a:avLst/>
          </a:prstGeom>
          <a:noFill/>
        </p:spPr>
        <p:txBody>
          <a:bodyPr wrap="square" lIns="0" rIns="0" tIns="0" bIns="0" anchor="t">
            <a:spAutoFit/>
          </a:bodyPr>
          <a:lstStyle/>
          <a:p>
            <a:pPr algn="l"/>
            <a:r>
              <a:rPr sz="1400" b="0">
                <a:solidFill>
                  <a:srgbClr val="4B5563"/>
                </a:solidFill>
                <a:latin typeface="Calibri"/>
              </a:rPr>
              <a:t>Why cutting fossil fuels too fast can cost more lives than it saves — in Lusaka and in Alberta alike.</a:t>
            </a:r>
          </a:p>
        </p:txBody>
      </p:sp>
      <p:sp>
        <p:nvSpPr>
          <p:cNvPr id="12" name="TextBox 11"/>
          <p:cNvSpPr txBox="1"/>
          <p:nvPr/>
        </p:nvSpPr>
        <p:spPr>
          <a:xfrm>
            <a:off x="4937760" y="4892040"/>
            <a:ext cx="6858000" cy="457200"/>
          </a:xfrm>
          <a:prstGeom prst="rect">
            <a:avLst/>
          </a:prstGeom>
          <a:noFill/>
        </p:spPr>
        <p:txBody>
          <a:bodyPr wrap="square" lIns="0" rIns="0" tIns="0" bIns="0" anchor="t">
            <a:spAutoFit/>
          </a:bodyPr>
          <a:lstStyle/>
          <a:p>
            <a:pPr algn="l"/>
            <a:r>
              <a:rPr sz="2200" b="1">
                <a:solidFill>
                  <a:srgbClr val="1F4E79"/>
                </a:solidFill>
                <a:latin typeface="Calibri"/>
              </a:rPr>
              <a:t>Choolwe</a:t>
            </a:r>
          </a:p>
        </p:txBody>
      </p:sp>
      <p:sp>
        <p:nvSpPr>
          <p:cNvPr id="13" name="TextBox 12"/>
          <p:cNvSpPr txBox="1"/>
          <p:nvPr/>
        </p:nvSpPr>
        <p:spPr>
          <a:xfrm>
            <a:off x="4937760" y="5394960"/>
            <a:ext cx="6858000" cy="365760"/>
          </a:xfrm>
          <a:prstGeom prst="rect">
            <a:avLst/>
          </a:prstGeom>
          <a:noFill/>
        </p:spPr>
        <p:txBody>
          <a:bodyPr wrap="square" lIns="0" rIns="0" tIns="0" bIns="0" anchor="t">
            <a:spAutoFit/>
          </a:bodyPr>
          <a:lstStyle/>
          <a:p>
            <a:pPr algn="l"/>
            <a:r>
              <a:rPr sz="1300" b="0">
                <a:solidFill>
                  <a:srgbClr val="4B5563"/>
                </a:solidFill>
                <a:latin typeface="Calibri"/>
              </a:rPr>
              <a:t>Analytics in Training  •  May 2026</a:t>
            </a:r>
          </a:p>
        </p:txBody>
      </p:sp>
      <p:sp>
        <p:nvSpPr>
          <p:cNvPr id="14" name="Oval 13"/>
          <p:cNvSpPr/>
          <p:nvPr/>
        </p:nvSpPr>
        <p:spPr>
          <a:xfrm>
            <a:off x="10405872" y="5804611"/>
            <a:ext cx="585216" cy="643737"/>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66806" y="6009436"/>
            <a:ext cx="263347" cy="351129"/>
          </a:xfrm>
          <a:prstGeom prst="ellipse">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137392" y="5833872"/>
            <a:ext cx="585216" cy="5852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ightning Bolt 16"/>
          <p:cNvSpPr/>
          <p:nvPr/>
        </p:nvSpPr>
        <p:spPr>
          <a:xfrm>
            <a:off x="11283696" y="5907024"/>
            <a:ext cx="292608" cy="438912"/>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7315200" cy="365760"/>
          </a:xfrm>
          <a:prstGeom prst="rect">
            <a:avLst/>
          </a:prstGeom>
          <a:noFill/>
        </p:spPr>
        <p:txBody>
          <a:bodyPr wrap="square" lIns="0" rIns="0" tIns="0" bIns="0" anchor="t">
            <a:spAutoFit/>
          </a:bodyPr>
          <a:lstStyle/>
          <a:p>
            <a:pPr algn="l"/>
            <a:r>
              <a:rPr sz="1100" b="1">
                <a:solidFill>
                  <a:srgbClr val="1F4E79"/>
                </a:solidFill>
                <a:latin typeface="Calibri"/>
              </a:rPr>
              <a:t>PRIMER  •  WHAT WE'RE TALKING ABOUT</a:t>
            </a:r>
          </a:p>
        </p:txBody>
      </p:sp>
      <p:sp>
        <p:nvSpPr>
          <p:cNvPr id="5" name="TextBox 4"/>
          <p:cNvSpPr txBox="1"/>
          <p:nvPr/>
        </p:nvSpPr>
        <p:spPr>
          <a:xfrm>
            <a:off x="548640" y="1097280"/>
            <a:ext cx="11064240" cy="1097280"/>
          </a:xfrm>
          <a:prstGeom prst="rect">
            <a:avLst/>
          </a:prstGeom>
          <a:noFill/>
        </p:spPr>
        <p:txBody>
          <a:bodyPr wrap="square" lIns="0" rIns="0" tIns="0" bIns="0" anchor="t">
            <a:spAutoFit/>
          </a:bodyPr>
          <a:lstStyle/>
          <a:p>
            <a:pPr algn="l"/>
            <a:r>
              <a:rPr sz="2400" b="1">
                <a:solidFill>
                  <a:srgbClr val="1F2937"/>
                </a:solidFill>
                <a:latin typeface="Calibri"/>
              </a:rPr>
              <a:t>Fossil fuels are stored ancient sunlight —
and still about 80% of the energy the world runs on.</a:t>
            </a:r>
          </a:p>
        </p:txBody>
      </p:sp>
      <p:sp>
        <p:nvSpPr>
          <p:cNvPr id="6" name="Rounded Rectangle 5"/>
          <p:cNvSpPr/>
          <p:nvPr/>
        </p:nvSpPr>
        <p:spPr>
          <a:xfrm>
            <a:off x="548640" y="2651760"/>
            <a:ext cx="3520440" cy="274320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651760"/>
            <a:ext cx="164592" cy="2743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2953512"/>
            <a:ext cx="585216" cy="5852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40003" y="3234415"/>
            <a:ext cx="497433" cy="234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77015" y="2997403"/>
            <a:ext cx="23408" cy="49743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91640" y="3063240"/>
            <a:ext cx="2240280" cy="731520"/>
          </a:xfrm>
          <a:prstGeom prst="rect">
            <a:avLst/>
          </a:prstGeom>
          <a:noFill/>
        </p:spPr>
        <p:txBody>
          <a:bodyPr wrap="square" lIns="0" rIns="0" tIns="0" bIns="0" anchor="t">
            <a:spAutoFit/>
          </a:bodyPr>
          <a:lstStyle/>
          <a:p>
            <a:pPr algn="l"/>
            <a:r>
              <a:rPr sz="1600" b="1">
                <a:solidFill>
                  <a:srgbClr val="1F2937"/>
                </a:solidFill>
                <a:latin typeface="Calibri"/>
              </a:rPr>
              <a:t>Coal</a:t>
            </a:r>
          </a:p>
        </p:txBody>
      </p:sp>
      <p:sp>
        <p:nvSpPr>
          <p:cNvPr id="12" name="TextBox 11"/>
          <p:cNvSpPr txBox="1"/>
          <p:nvPr/>
        </p:nvSpPr>
        <p:spPr>
          <a:xfrm>
            <a:off x="914400" y="4069080"/>
            <a:ext cx="2971800" cy="1188720"/>
          </a:xfrm>
          <a:prstGeom prst="rect">
            <a:avLst/>
          </a:prstGeom>
          <a:noFill/>
        </p:spPr>
        <p:txBody>
          <a:bodyPr wrap="square" lIns="0" rIns="0" tIns="0" bIns="0" anchor="t">
            <a:spAutoFit/>
          </a:bodyPr>
          <a:lstStyle/>
          <a:p>
            <a:pPr algn="l"/>
            <a:r>
              <a:rPr sz="1250" b="0">
                <a:solidFill>
                  <a:srgbClr val="4B5563"/>
                </a:solidFill>
                <a:latin typeface="Calibri"/>
              </a:rPr>
              <a:t>Ancient land plants and swamp forests,
buried and compressed. Mined as a solid.</a:t>
            </a:r>
          </a:p>
        </p:txBody>
      </p:sp>
      <p:sp>
        <p:nvSpPr>
          <p:cNvPr id="13" name="Rounded Rectangle 12"/>
          <p:cNvSpPr/>
          <p:nvPr/>
        </p:nvSpPr>
        <p:spPr>
          <a:xfrm>
            <a:off x="4343400" y="2651760"/>
            <a:ext cx="3520440" cy="274320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2651760"/>
            <a:ext cx="164592" cy="2743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90872" y="2924251"/>
            <a:ext cx="585216" cy="643737"/>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851806" y="3129076"/>
            <a:ext cx="263347" cy="351129"/>
          </a:xfrm>
          <a:prstGeom prst="ellipse">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0" y="3063240"/>
            <a:ext cx="2240280" cy="731520"/>
          </a:xfrm>
          <a:prstGeom prst="rect">
            <a:avLst/>
          </a:prstGeom>
          <a:noFill/>
        </p:spPr>
        <p:txBody>
          <a:bodyPr wrap="square" lIns="0" rIns="0" tIns="0" bIns="0" anchor="t">
            <a:spAutoFit/>
          </a:bodyPr>
          <a:lstStyle/>
          <a:p>
            <a:pPr algn="l"/>
            <a:r>
              <a:rPr sz="1600" b="1">
                <a:solidFill>
                  <a:srgbClr val="1F2937"/>
                </a:solidFill>
                <a:latin typeface="Calibri"/>
              </a:rPr>
              <a:t>Oil (petroleum)</a:t>
            </a:r>
          </a:p>
        </p:txBody>
      </p:sp>
      <p:sp>
        <p:nvSpPr>
          <p:cNvPr id="18" name="TextBox 17"/>
          <p:cNvSpPr txBox="1"/>
          <p:nvPr/>
        </p:nvSpPr>
        <p:spPr>
          <a:xfrm>
            <a:off x="4709160" y="4069080"/>
            <a:ext cx="2971800" cy="1188720"/>
          </a:xfrm>
          <a:prstGeom prst="rect">
            <a:avLst/>
          </a:prstGeom>
          <a:noFill/>
        </p:spPr>
        <p:txBody>
          <a:bodyPr wrap="square" lIns="0" rIns="0" tIns="0" bIns="0" anchor="t">
            <a:spAutoFit/>
          </a:bodyPr>
          <a:lstStyle/>
          <a:p>
            <a:pPr algn="l"/>
            <a:r>
              <a:rPr sz="1250" b="0">
                <a:solidFill>
                  <a:srgbClr val="4B5563"/>
                </a:solidFill>
                <a:latin typeface="Calibri"/>
              </a:rPr>
              <a:t>Ancient ocean plankton and algae,
cooked under pressure. Drilled as a liquid.</a:t>
            </a:r>
          </a:p>
        </p:txBody>
      </p:sp>
      <p:sp>
        <p:nvSpPr>
          <p:cNvPr id="19" name="Rounded Rectangle 18"/>
          <p:cNvSpPr/>
          <p:nvPr/>
        </p:nvSpPr>
        <p:spPr>
          <a:xfrm>
            <a:off x="8138160" y="2651760"/>
            <a:ext cx="3520440" cy="274320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2651760"/>
            <a:ext cx="164592" cy="2743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85632" y="2953512"/>
            <a:ext cx="585216" cy="5852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ightning Bolt 21"/>
          <p:cNvSpPr/>
          <p:nvPr/>
        </p:nvSpPr>
        <p:spPr>
          <a:xfrm>
            <a:off x="8631936" y="3026664"/>
            <a:ext cx="292608" cy="438912"/>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81160" y="3063240"/>
            <a:ext cx="2240280" cy="731520"/>
          </a:xfrm>
          <a:prstGeom prst="rect">
            <a:avLst/>
          </a:prstGeom>
          <a:noFill/>
        </p:spPr>
        <p:txBody>
          <a:bodyPr wrap="square" lIns="0" rIns="0" tIns="0" bIns="0" anchor="t">
            <a:spAutoFit/>
          </a:bodyPr>
          <a:lstStyle/>
          <a:p>
            <a:pPr algn="l"/>
            <a:r>
              <a:rPr sz="1600" b="1">
                <a:solidFill>
                  <a:srgbClr val="1F2937"/>
                </a:solidFill>
                <a:latin typeface="Calibri"/>
              </a:rPr>
              <a:t>Natural gas</a:t>
            </a:r>
          </a:p>
        </p:txBody>
      </p:sp>
      <p:sp>
        <p:nvSpPr>
          <p:cNvPr id="24" name="TextBox 23"/>
          <p:cNvSpPr txBox="1"/>
          <p:nvPr/>
        </p:nvSpPr>
        <p:spPr>
          <a:xfrm>
            <a:off x="8503920" y="4069080"/>
            <a:ext cx="2971800" cy="1188720"/>
          </a:xfrm>
          <a:prstGeom prst="rect">
            <a:avLst/>
          </a:prstGeom>
          <a:noFill/>
        </p:spPr>
        <p:txBody>
          <a:bodyPr wrap="square" lIns="0" rIns="0" tIns="0" bIns="0" anchor="t">
            <a:spAutoFit/>
          </a:bodyPr>
          <a:lstStyle/>
          <a:p>
            <a:pPr algn="l"/>
            <a:r>
              <a:rPr sz="1250" b="0">
                <a:solidFill>
                  <a:srgbClr val="4B5563"/>
                </a:solidFill>
                <a:latin typeface="Calibri"/>
              </a:rPr>
              <a:t>The same organic matter, cooked hotter.
Drilled as a gas — mostly methane.</a:t>
            </a:r>
          </a:p>
        </p:txBody>
      </p:sp>
      <p:sp>
        <p:nvSpPr>
          <p:cNvPr id="25" name="TextBox 24"/>
          <p:cNvSpPr txBox="1"/>
          <p:nvPr/>
        </p:nvSpPr>
        <p:spPr>
          <a:xfrm>
            <a:off x="548640" y="5760720"/>
            <a:ext cx="11064240" cy="548640"/>
          </a:xfrm>
          <a:prstGeom prst="rect">
            <a:avLst/>
          </a:prstGeom>
          <a:noFill/>
        </p:spPr>
        <p:txBody>
          <a:bodyPr wrap="square" lIns="0" rIns="0" tIns="0" bIns="0" anchor="t">
            <a:spAutoFit/>
          </a:bodyPr>
          <a:lstStyle/>
          <a:p>
            <a:pPr algn="l"/>
            <a:r>
              <a:rPr sz="1300" b="1">
                <a:solidFill>
                  <a:srgbClr val="4B5563"/>
                </a:solidFill>
                <a:latin typeface="Calibri"/>
              </a:rPr>
              <a:t>What we use them for today:  electricity · transport · heat · industry (steel, cement, fertilizer) · cooking.</a:t>
            </a:r>
          </a:p>
        </p:txBody>
      </p:sp>
      <p:sp>
        <p:nvSpPr>
          <p:cNvPr id="26" name="TextBox 25"/>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27" name="TextBox 26"/>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411480" cy="67116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0392" y="72237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640080"/>
            <a:ext cx="7315200" cy="365760"/>
          </a:xfrm>
          <a:prstGeom prst="rect">
            <a:avLst/>
          </a:prstGeom>
          <a:noFill/>
        </p:spPr>
        <p:txBody>
          <a:bodyPr wrap="square" lIns="0" rIns="0" tIns="0" bIns="0" anchor="t">
            <a:spAutoFit/>
          </a:bodyPr>
          <a:lstStyle/>
          <a:p>
            <a:pPr algn="l"/>
            <a:r>
              <a:rPr sz="1100" b="1">
                <a:solidFill>
                  <a:srgbClr val="D97706"/>
                </a:solidFill>
                <a:latin typeface="Calibri"/>
              </a:rPr>
              <a:t>THE BIG IDEA</a:t>
            </a:r>
          </a:p>
        </p:txBody>
      </p:sp>
      <p:sp>
        <p:nvSpPr>
          <p:cNvPr id="6" name="TextBox 5"/>
          <p:cNvSpPr txBox="1"/>
          <p:nvPr/>
        </p:nvSpPr>
        <p:spPr>
          <a:xfrm>
            <a:off x="822960" y="1554480"/>
            <a:ext cx="10515600" cy="2194560"/>
          </a:xfrm>
          <a:prstGeom prst="rect">
            <a:avLst/>
          </a:prstGeom>
          <a:noFill/>
        </p:spPr>
        <p:txBody>
          <a:bodyPr wrap="square" lIns="0" rIns="0">
            <a:spAutoFit/>
          </a:bodyPr>
          <a:lstStyle/>
          <a:p>
            <a:r>
              <a:rPr sz="2800" b="0">
                <a:solidFill>
                  <a:srgbClr val="4B5563"/>
                </a:solidFill>
                <a:latin typeface="Calibri"/>
              </a:rPr>
              <a:t>Reliable energy is survival — and </a:t>
            </a:r>
            <a:r>
              <a:rPr sz="2800" b="1">
                <a:solidFill>
                  <a:srgbClr val="D97706"/>
                </a:solidFill>
                <a:latin typeface="Calibri"/>
              </a:rPr>
              <a:t>clean energy alone can't deliver it</a:t>
            </a:r>
            <a:r>
              <a:rPr sz="2800" b="0">
                <a:solidFill>
                  <a:srgbClr val="4B5563"/>
                </a:solidFill>
                <a:latin typeface="Calibri"/>
              </a:rPr>
              <a:t> when we need it most. From </a:t>
            </a:r>
            <a:r>
              <a:rPr sz="2800" b="1">
                <a:solidFill>
                  <a:srgbClr val="D97706"/>
                </a:solidFill>
                <a:latin typeface="Calibri"/>
              </a:rPr>
              <a:t>Zambia's drought</a:t>
            </a:r>
            <a:r>
              <a:rPr sz="2800" b="0">
                <a:solidFill>
                  <a:srgbClr val="4B5563"/>
                </a:solidFill>
                <a:latin typeface="Calibri"/>
              </a:rPr>
              <a:t> to </a:t>
            </a:r>
            <a:r>
              <a:rPr sz="2800" b="1">
                <a:solidFill>
                  <a:srgbClr val="D97706"/>
                </a:solidFill>
                <a:latin typeface="Calibri"/>
              </a:rPr>
              <a:t>a Canadian winter</a:t>
            </a:r>
            <a:r>
              <a:rPr sz="2800" b="0">
                <a:solidFill>
                  <a:srgbClr val="4B5563"/>
                </a:solidFill>
                <a:latin typeface="Calibri"/>
              </a:rPr>
              <a:t>, cutting fossil fuels now costs lives.</a:t>
            </a:r>
          </a:p>
        </p:txBody>
      </p:sp>
      <p:sp>
        <p:nvSpPr>
          <p:cNvPr id="7" name="TextBox 6"/>
          <p:cNvSpPr txBox="1"/>
          <p:nvPr/>
        </p:nvSpPr>
        <p:spPr>
          <a:xfrm>
            <a:off x="822960" y="4206240"/>
            <a:ext cx="10515600" cy="1828800"/>
          </a:xfrm>
          <a:prstGeom prst="rect">
            <a:avLst/>
          </a:prstGeom>
          <a:noFill/>
        </p:spPr>
        <p:txBody>
          <a:bodyPr wrap="square" lIns="0" rIns="0" tIns="0" bIns="0" anchor="t">
            <a:spAutoFit/>
          </a:bodyPr>
          <a:lstStyle/>
          <a:p>
            <a:pPr algn="l"/>
            <a:r>
              <a:rPr sz="4000" b="1">
                <a:solidFill>
                  <a:srgbClr val="1F4E79"/>
                </a:solidFill>
                <a:latin typeface="Calibri"/>
              </a:rPr>
              <a:t>The honest path is a managed transition,
not abandonment.</a:t>
            </a:r>
          </a:p>
        </p:txBody>
      </p:sp>
      <p:sp>
        <p:nvSpPr>
          <p:cNvPr id="8" name="Oval 7"/>
          <p:cNvSpPr/>
          <p:nvPr/>
        </p:nvSpPr>
        <p:spPr>
          <a:xfrm>
            <a:off x="10972800" y="594360"/>
            <a:ext cx="731520" cy="7315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82528" y="941832"/>
            <a:ext cx="512063"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320272" y="941832"/>
            <a:ext cx="36576"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2" name="TextBox 11"/>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7315200" cy="365760"/>
          </a:xfrm>
          <a:prstGeom prst="rect">
            <a:avLst/>
          </a:prstGeom>
          <a:noFill/>
        </p:spPr>
        <p:txBody>
          <a:bodyPr wrap="square" lIns="0" rIns="0" tIns="0" bIns="0" anchor="t">
            <a:spAutoFit/>
          </a:bodyPr>
          <a:lstStyle/>
          <a:p>
            <a:pPr algn="l"/>
            <a:r>
              <a:rPr sz="1100" b="1">
                <a:solidFill>
                  <a:srgbClr val="D97706"/>
                </a:solidFill>
                <a:latin typeface="Calibri"/>
              </a:rPr>
              <a:t>COMPLICATION  •  THE RELIABILITY TEST, IN THE SOUTH</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200" b="1">
                <a:solidFill>
                  <a:srgbClr val="1F2937"/>
                </a:solidFill>
                <a:latin typeface="Calibri"/>
              </a:rPr>
              <a:t>Zambia bet 85% of its grid on "clean" hydropower —
and a climate-driven drought left us in the dark for 21 hours a day.</a:t>
            </a:r>
          </a:p>
        </p:txBody>
      </p:sp>
      <p:pic>
        <p:nvPicPr>
          <p:cNvPr id="6" name="Picture 5" descr="zambia_mix.png"/>
          <p:cNvPicPr>
            <a:picLocks noChangeAspect="1"/>
          </p:cNvPicPr>
          <p:nvPr/>
        </p:nvPicPr>
        <p:blipFill>
          <a:blip r:embed="rId2"/>
          <a:stretch>
            <a:fillRect/>
          </a:stretch>
        </p:blipFill>
        <p:spPr>
          <a:xfrm>
            <a:off x="365760" y="2377440"/>
            <a:ext cx="6858000" cy="5531087"/>
          </a:xfrm>
          <a:prstGeom prst="rect">
            <a:avLst/>
          </a:prstGeom>
        </p:spPr>
      </p:pic>
      <p:sp>
        <p:nvSpPr>
          <p:cNvPr id="7" name="Rounded Rectangle 6"/>
          <p:cNvSpPr/>
          <p:nvPr/>
        </p:nvSpPr>
        <p:spPr>
          <a:xfrm>
            <a:off x="7680960" y="2468880"/>
            <a:ext cx="4114800" cy="1554480"/>
          </a:xfrm>
          <a:prstGeom prst="roundRect">
            <a:avLst>
              <a:gd name="adj" fmla="val 10000"/>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0" y="2606040"/>
            <a:ext cx="3566160" cy="365760"/>
          </a:xfrm>
          <a:prstGeom prst="rect">
            <a:avLst/>
          </a:prstGeom>
          <a:noFill/>
        </p:spPr>
        <p:txBody>
          <a:bodyPr wrap="square" lIns="0" rIns="0" tIns="0" bIns="0" anchor="t">
            <a:spAutoFit/>
          </a:bodyPr>
          <a:lstStyle/>
          <a:p>
            <a:pPr algn="l"/>
            <a:r>
              <a:rPr sz="1100" b="1">
                <a:solidFill>
                  <a:srgbClr val="D97706"/>
                </a:solidFill>
                <a:latin typeface="Calibri"/>
              </a:rPr>
              <a:t>THE BET</a:t>
            </a:r>
          </a:p>
        </p:txBody>
      </p:sp>
      <p:sp>
        <p:nvSpPr>
          <p:cNvPr id="9" name="TextBox 8"/>
          <p:cNvSpPr txBox="1"/>
          <p:nvPr/>
        </p:nvSpPr>
        <p:spPr>
          <a:xfrm>
            <a:off x="7955280" y="2926080"/>
            <a:ext cx="3566160" cy="1097280"/>
          </a:xfrm>
          <a:prstGeom prst="rect">
            <a:avLst/>
          </a:prstGeom>
          <a:noFill/>
        </p:spPr>
        <p:txBody>
          <a:bodyPr wrap="square" lIns="0" rIns="0" tIns="0" bIns="0" anchor="t">
            <a:spAutoFit/>
          </a:bodyPr>
          <a:lstStyle/>
          <a:p>
            <a:pPr algn="l"/>
            <a:r>
              <a:rPr sz="1800" b="1">
                <a:solidFill>
                  <a:srgbClr val="1F2937"/>
                </a:solidFill>
                <a:latin typeface="Calibri"/>
              </a:rPr>
              <a:t>85% of installed capacity
is hydropower.</a:t>
            </a:r>
          </a:p>
        </p:txBody>
      </p:sp>
      <p:sp>
        <p:nvSpPr>
          <p:cNvPr id="10" name="Rounded Rectangle 9"/>
          <p:cNvSpPr/>
          <p:nvPr/>
        </p:nvSpPr>
        <p:spPr>
          <a:xfrm>
            <a:off x="7680960" y="4160520"/>
            <a:ext cx="4114800" cy="1554480"/>
          </a:xfrm>
          <a:prstGeom prst="roundRect">
            <a:avLst>
              <a:gd name="adj" fmla="val 10000"/>
            </a:avLst>
          </a:prstGeom>
          <a:solidFill>
            <a:srgbClr val="DBE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0" y="4297680"/>
            <a:ext cx="3566160" cy="365760"/>
          </a:xfrm>
          <a:prstGeom prst="rect">
            <a:avLst/>
          </a:prstGeom>
          <a:noFill/>
        </p:spPr>
        <p:txBody>
          <a:bodyPr wrap="square" lIns="0" rIns="0" tIns="0" bIns="0" anchor="t">
            <a:spAutoFit/>
          </a:bodyPr>
          <a:lstStyle/>
          <a:p>
            <a:pPr algn="l"/>
            <a:r>
              <a:rPr sz="1100" b="1">
                <a:solidFill>
                  <a:srgbClr val="1F4E79"/>
                </a:solidFill>
                <a:latin typeface="Calibri"/>
              </a:rPr>
              <a:t>THE LESSON</a:t>
            </a:r>
          </a:p>
        </p:txBody>
      </p:sp>
      <p:sp>
        <p:nvSpPr>
          <p:cNvPr id="12" name="TextBox 11"/>
          <p:cNvSpPr txBox="1"/>
          <p:nvPr/>
        </p:nvSpPr>
        <p:spPr>
          <a:xfrm>
            <a:off x="7955280" y="4617720"/>
            <a:ext cx="3566160" cy="1097280"/>
          </a:xfrm>
          <a:prstGeom prst="rect">
            <a:avLst/>
          </a:prstGeom>
          <a:noFill/>
        </p:spPr>
        <p:txBody>
          <a:bodyPr wrap="square" lIns="0" rIns="0" tIns="0" bIns="0" anchor="t">
            <a:spAutoFit/>
          </a:bodyPr>
          <a:lstStyle/>
          <a:p>
            <a:pPr algn="l"/>
            <a:r>
              <a:rPr sz="1300" b="0">
                <a:solidFill>
                  <a:srgbClr val="1F2937"/>
                </a:solidFill>
                <a:latin typeface="Calibri"/>
              </a:rPr>
              <a:t>Firm, dispatchable power matters.
Pretending otherwise is paid for in dark hospitals.</a:t>
            </a:r>
          </a:p>
        </p:txBody>
      </p:sp>
      <p:sp>
        <p:nvSpPr>
          <p:cNvPr id="13" name="TextBox 12"/>
          <p:cNvSpPr txBox="1"/>
          <p:nvPr/>
        </p:nvSpPr>
        <p:spPr>
          <a:xfrm>
            <a:off x="548640" y="6080760"/>
            <a:ext cx="10972800" cy="365760"/>
          </a:xfrm>
          <a:prstGeom prst="rect">
            <a:avLst/>
          </a:prstGeom>
          <a:noFill/>
        </p:spPr>
        <p:txBody>
          <a:bodyPr wrap="square" lIns="0" rIns="0" tIns="0" bIns="0" anchor="t">
            <a:spAutoFit/>
          </a:bodyPr>
          <a:lstStyle/>
          <a:p>
            <a:pPr algn="l"/>
            <a:r>
              <a:rPr sz="1300" b="0">
                <a:solidFill>
                  <a:srgbClr val="4B5563"/>
                </a:solidFill>
                <a:latin typeface="Calibri"/>
              </a:rPr>
              <a:t>The answer isn't "burn more coal." It's "don't bet the grid on one weather pattern."</a:t>
            </a:r>
          </a:p>
        </p:txBody>
      </p:sp>
      <p:sp>
        <p:nvSpPr>
          <p:cNvPr id="14" name="TextBox 13"/>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5" name="TextBox 14"/>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7315200" cy="365760"/>
          </a:xfrm>
          <a:prstGeom prst="rect">
            <a:avLst/>
          </a:prstGeom>
          <a:noFill/>
        </p:spPr>
        <p:txBody>
          <a:bodyPr wrap="square" lIns="0" rIns="0" tIns="0" bIns="0" anchor="t">
            <a:spAutoFit/>
          </a:bodyPr>
          <a:lstStyle/>
          <a:p>
            <a:pPr algn="l"/>
            <a:r>
              <a:rPr sz="1100" b="1">
                <a:solidFill>
                  <a:srgbClr val="D97706"/>
                </a:solidFill>
                <a:latin typeface="Calibri"/>
              </a:rPr>
              <a:t>COMPLICATION  •  THE RELIABILITY TEST, IN THE NORTH</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200" b="1">
                <a:solidFill>
                  <a:srgbClr val="1F2937"/>
                </a:solidFill>
                <a:latin typeface="Calibri"/>
              </a:rPr>
              <a:t>When it's coldest, clean energy is weakest —
and fossil fuels are what keep people alive.</a:t>
            </a:r>
          </a:p>
        </p:txBody>
      </p:sp>
      <p:pic>
        <p:nvPicPr>
          <p:cNvPr id="6" name="Picture 5" descr="cold_climate.png"/>
          <p:cNvPicPr>
            <a:picLocks noChangeAspect="1"/>
          </p:cNvPicPr>
          <p:nvPr/>
        </p:nvPicPr>
        <p:blipFill>
          <a:blip r:embed="rId2"/>
          <a:stretch>
            <a:fillRect/>
          </a:stretch>
        </p:blipFill>
        <p:spPr>
          <a:xfrm>
            <a:off x="365760" y="2377440"/>
            <a:ext cx="6949440" cy="3473082"/>
          </a:xfrm>
          <a:prstGeom prst="rect">
            <a:avLst/>
          </a:prstGeom>
        </p:spPr>
      </p:pic>
      <p:sp>
        <p:nvSpPr>
          <p:cNvPr id="7" name="Rounded Rectangle 6"/>
          <p:cNvSpPr/>
          <p:nvPr/>
        </p:nvSpPr>
        <p:spPr>
          <a:xfrm>
            <a:off x="7772400" y="2468880"/>
            <a:ext cx="4023360" cy="1691640"/>
          </a:xfrm>
          <a:prstGeom prst="roundRect">
            <a:avLst>
              <a:gd name="adj" fmla="val 10000"/>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2606040"/>
            <a:ext cx="3474720" cy="365760"/>
          </a:xfrm>
          <a:prstGeom prst="rect">
            <a:avLst/>
          </a:prstGeom>
          <a:noFill/>
        </p:spPr>
        <p:txBody>
          <a:bodyPr wrap="square" lIns="0" rIns="0" tIns="0" bIns="0" anchor="t">
            <a:spAutoFit/>
          </a:bodyPr>
          <a:lstStyle/>
          <a:p>
            <a:pPr algn="l"/>
            <a:r>
              <a:rPr sz="1100" b="1">
                <a:solidFill>
                  <a:srgbClr val="D97706"/>
                </a:solidFill>
                <a:latin typeface="Calibri"/>
              </a:rPr>
              <a:t>WHY WARMTH IS NON-NEGOTIABLE</a:t>
            </a:r>
          </a:p>
        </p:txBody>
      </p:sp>
      <p:sp>
        <p:nvSpPr>
          <p:cNvPr id="9" name="TextBox 8"/>
          <p:cNvSpPr txBox="1"/>
          <p:nvPr/>
        </p:nvSpPr>
        <p:spPr>
          <a:xfrm>
            <a:off x="8046720" y="2926080"/>
            <a:ext cx="3474720" cy="640080"/>
          </a:xfrm>
          <a:prstGeom prst="rect">
            <a:avLst/>
          </a:prstGeom>
          <a:noFill/>
        </p:spPr>
        <p:txBody>
          <a:bodyPr wrap="square" lIns="0" rIns="0" tIns="0" bIns="0" anchor="t">
            <a:spAutoFit/>
          </a:bodyPr>
          <a:lstStyle/>
          <a:p>
            <a:pPr algn="l"/>
            <a:r>
              <a:rPr sz="3000" b="1">
                <a:solidFill>
                  <a:srgbClr val="D97706"/>
                </a:solidFill>
                <a:latin typeface="Calibri"/>
              </a:rPr>
              <a:t>~9× more</a:t>
            </a:r>
          </a:p>
        </p:txBody>
      </p:sp>
      <p:sp>
        <p:nvSpPr>
          <p:cNvPr id="10" name="TextBox 9"/>
          <p:cNvSpPr txBox="1"/>
          <p:nvPr/>
        </p:nvSpPr>
        <p:spPr>
          <a:xfrm>
            <a:off x="8046720" y="3611880"/>
            <a:ext cx="3474720" cy="548640"/>
          </a:xfrm>
          <a:prstGeom prst="rect">
            <a:avLst/>
          </a:prstGeom>
          <a:noFill/>
        </p:spPr>
        <p:txBody>
          <a:bodyPr wrap="square" lIns="0" rIns="0" tIns="0" bIns="0" anchor="t">
            <a:spAutoFit/>
          </a:bodyPr>
          <a:lstStyle/>
          <a:p>
            <a:pPr algn="l"/>
            <a:r>
              <a:rPr sz="1300" b="0">
                <a:solidFill>
                  <a:srgbClr val="1F2937"/>
                </a:solidFill>
                <a:latin typeface="Calibri"/>
              </a:rPr>
              <a:t>deaths from cold than from heat, worldwide.</a:t>
            </a:r>
          </a:p>
        </p:txBody>
      </p:sp>
      <p:sp>
        <p:nvSpPr>
          <p:cNvPr id="11" name="Rounded Rectangle 10"/>
          <p:cNvSpPr/>
          <p:nvPr/>
        </p:nvSpPr>
        <p:spPr>
          <a:xfrm>
            <a:off x="7772400" y="4297680"/>
            <a:ext cx="4023360" cy="1417320"/>
          </a:xfrm>
          <a:prstGeom prst="roundRect">
            <a:avLst>
              <a:gd name="adj" fmla="val 10000"/>
            </a:avLst>
          </a:prstGeom>
          <a:solidFill>
            <a:srgbClr val="DBE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4434840"/>
            <a:ext cx="3474720" cy="365760"/>
          </a:xfrm>
          <a:prstGeom prst="rect">
            <a:avLst/>
          </a:prstGeom>
          <a:noFill/>
        </p:spPr>
        <p:txBody>
          <a:bodyPr wrap="square" lIns="0" rIns="0" tIns="0" bIns="0" anchor="t">
            <a:spAutoFit/>
          </a:bodyPr>
          <a:lstStyle/>
          <a:p>
            <a:pPr algn="l"/>
            <a:r>
              <a:rPr sz="1100" b="1">
                <a:solidFill>
                  <a:srgbClr val="1F4E79"/>
                </a:solidFill>
                <a:latin typeface="Calibri"/>
              </a:rPr>
              <a:t>GAS HEATS HALF OF CANADIAN HOMES</a:t>
            </a:r>
          </a:p>
        </p:txBody>
      </p:sp>
      <p:sp>
        <p:nvSpPr>
          <p:cNvPr id="13" name="TextBox 12"/>
          <p:cNvSpPr txBox="1"/>
          <p:nvPr/>
        </p:nvSpPr>
        <p:spPr>
          <a:xfrm>
            <a:off x="8046720" y="4754880"/>
            <a:ext cx="3474720" cy="914400"/>
          </a:xfrm>
          <a:prstGeom prst="rect">
            <a:avLst/>
          </a:prstGeom>
          <a:noFill/>
        </p:spPr>
        <p:txBody>
          <a:bodyPr wrap="square" lIns="0" rIns="0" tIns="0" bIns="0" anchor="t">
            <a:spAutoFit/>
          </a:bodyPr>
          <a:lstStyle/>
          <a:p>
            <a:pPr algn="l"/>
            <a:r>
              <a:rPr sz="1300" b="0">
                <a:solidFill>
                  <a:srgbClr val="1F2937"/>
                </a:solidFill>
                <a:latin typeface="Calibri"/>
              </a:rPr>
              <a:t>72% in Alberta, 62% in Ontario. In a -30°C winter, "no fossil fuels" means no heat.</a:t>
            </a:r>
          </a:p>
        </p:txBody>
      </p:sp>
      <p:sp>
        <p:nvSpPr>
          <p:cNvPr id="14" name="TextBox 13"/>
          <p:cNvSpPr txBox="1"/>
          <p:nvPr/>
        </p:nvSpPr>
        <p:spPr>
          <a:xfrm>
            <a:off x="548640" y="6126480"/>
            <a:ext cx="10972800" cy="365760"/>
          </a:xfrm>
          <a:prstGeom prst="rect">
            <a:avLst/>
          </a:prstGeom>
          <a:noFill/>
        </p:spPr>
        <p:txBody>
          <a:bodyPr wrap="square" lIns="0" rIns="0" tIns="0" bIns="0" anchor="t">
            <a:spAutoFit/>
          </a:bodyPr>
          <a:lstStyle/>
          <a:p>
            <a:pPr algn="l"/>
            <a:r>
              <a:rPr sz="1300" b="0">
                <a:solidFill>
                  <a:srgbClr val="4B5563"/>
                </a:solidFill>
                <a:latin typeface="Calibri"/>
              </a:rPr>
              <a:t>It isn't only the poor South. A rich, modern province nearly went dark — and only firm power kept it alive.</a:t>
            </a:r>
          </a:p>
        </p:txBody>
      </p:sp>
      <p:sp>
        <p:nvSpPr>
          <p:cNvPr id="15" name="TextBox 14"/>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6" name="TextBox 15"/>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7315200" cy="365760"/>
          </a:xfrm>
          <a:prstGeom prst="rect">
            <a:avLst/>
          </a:prstGeom>
          <a:noFill/>
        </p:spPr>
        <p:txBody>
          <a:bodyPr wrap="square" lIns="0" rIns="0" tIns="0" bIns="0" anchor="t">
            <a:spAutoFit/>
          </a:bodyPr>
          <a:lstStyle/>
          <a:p>
            <a:pPr algn="l"/>
            <a:r>
              <a:rPr sz="1100" b="1">
                <a:solidFill>
                  <a:srgbClr val="D97706"/>
                </a:solidFill>
                <a:latin typeface="Calibri"/>
              </a:rPr>
              <a:t>COMPLICATION  •  THE JUSTICE ASYMMETRY</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100" b="1">
                <a:solidFill>
                  <a:srgbClr val="1F2937"/>
                </a:solidFill>
                <a:latin typeface="Calibri"/>
              </a:rPr>
              <a:t>Africa hosts 17% of the world's people, caused under 3% of cumulative
emissions — and is being asked to skip the ladder every wealthy country climbed.</a:t>
            </a:r>
          </a:p>
        </p:txBody>
      </p:sp>
      <p:pic>
        <p:nvPicPr>
          <p:cNvPr id="6" name="Picture 5" descr="africa_asymmetry.png"/>
          <p:cNvPicPr>
            <a:picLocks noChangeAspect="1"/>
          </p:cNvPicPr>
          <p:nvPr/>
        </p:nvPicPr>
        <p:blipFill>
          <a:blip r:embed="rId2"/>
          <a:stretch>
            <a:fillRect/>
          </a:stretch>
        </p:blipFill>
        <p:spPr>
          <a:xfrm>
            <a:off x="365760" y="2651760"/>
            <a:ext cx="11430000" cy="2230367"/>
          </a:xfrm>
          <a:prstGeom prst="rect">
            <a:avLst/>
          </a:prstGeom>
        </p:spPr>
      </p:pic>
      <p:sp>
        <p:nvSpPr>
          <p:cNvPr id="7" name="Rounded Rectangle 6"/>
          <p:cNvSpPr/>
          <p:nvPr/>
        </p:nvSpPr>
        <p:spPr>
          <a:xfrm>
            <a:off x="548640" y="5440680"/>
            <a:ext cx="11064240" cy="868680"/>
          </a:xfrm>
          <a:prstGeom prst="roundRect">
            <a:avLst>
              <a:gd name="adj" fmla="val 10000"/>
            </a:avLst>
          </a:prstGeom>
          <a:solidFill>
            <a:srgbClr val="DBE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577840"/>
            <a:ext cx="10515600" cy="365760"/>
          </a:xfrm>
          <a:prstGeom prst="rect">
            <a:avLst/>
          </a:prstGeom>
          <a:noFill/>
        </p:spPr>
        <p:txBody>
          <a:bodyPr wrap="square" lIns="0" rIns="0" tIns="0" bIns="0" anchor="t">
            <a:spAutoFit/>
          </a:bodyPr>
          <a:lstStyle/>
          <a:p>
            <a:pPr algn="l"/>
            <a:r>
              <a:rPr sz="1400" b="1">
                <a:solidFill>
                  <a:srgbClr val="1F4E79"/>
                </a:solidFill>
                <a:latin typeface="Calibri"/>
              </a:rPr>
              <a:t>Every wealthy country got rich by burning coal, then oil, then gas.</a:t>
            </a:r>
          </a:p>
        </p:txBody>
      </p:sp>
      <p:sp>
        <p:nvSpPr>
          <p:cNvPr id="9" name="TextBox 8"/>
          <p:cNvSpPr txBox="1"/>
          <p:nvPr/>
        </p:nvSpPr>
        <p:spPr>
          <a:xfrm>
            <a:off x="868680" y="5897880"/>
            <a:ext cx="10515600" cy="365760"/>
          </a:xfrm>
          <a:prstGeom prst="rect">
            <a:avLst/>
          </a:prstGeom>
          <a:noFill/>
        </p:spPr>
        <p:txBody>
          <a:bodyPr wrap="square" lIns="0" rIns="0" tIns="0" bIns="0" anchor="t">
            <a:spAutoFit/>
          </a:bodyPr>
          <a:lstStyle/>
          <a:p>
            <a:pPr algn="l"/>
            <a:r>
              <a:rPr sz="1200" b="0">
                <a:solidFill>
                  <a:srgbClr val="4B5563"/>
                </a:solidFill>
                <a:latin typeface="Calibri"/>
              </a:rPr>
              <a:t>Even the clean-energy supply chain itself — steel, cement, shipping — still runs on fossil fuels today.</a:t>
            </a:r>
          </a:p>
        </p:txBody>
      </p:sp>
      <p:sp>
        <p:nvSpPr>
          <p:cNvPr id="10" name="TextBox 9"/>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1" name="TextBox 10"/>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7315200" cy="365760"/>
          </a:xfrm>
          <a:prstGeom prst="rect">
            <a:avLst/>
          </a:prstGeom>
          <a:noFill/>
        </p:spPr>
        <p:txBody>
          <a:bodyPr wrap="square" lIns="0" rIns="0" tIns="0" bIns="0" anchor="t">
            <a:spAutoFit/>
          </a:bodyPr>
          <a:lstStyle/>
          <a:p>
            <a:pPr algn="l"/>
            <a:r>
              <a:rPr sz="1100" b="1">
                <a:solidFill>
                  <a:srgbClr val="D97706"/>
                </a:solidFill>
                <a:latin typeface="Calibri"/>
              </a:rPr>
              <a:t>BRIDGE  •  WHAT ENERGY ACCESS BUYS</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200" b="1">
                <a:solidFill>
                  <a:srgbClr val="1F2937"/>
                </a:solidFill>
                <a:latin typeface="Calibri"/>
              </a:rPr>
              <a:t>Below ~3,000 kWh per person per year, every extra kWh
buys life-years. Zambia sits right on the steep part of the curve.</a:t>
            </a:r>
          </a:p>
        </p:txBody>
      </p:sp>
      <p:pic>
        <p:nvPicPr>
          <p:cNvPr id="6" name="Picture 5" descr="energy_life.png"/>
          <p:cNvPicPr>
            <a:picLocks noChangeAspect="1"/>
          </p:cNvPicPr>
          <p:nvPr/>
        </p:nvPicPr>
        <p:blipFill>
          <a:blip r:embed="rId2"/>
          <a:stretch>
            <a:fillRect/>
          </a:stretch>
        </p:blipFill>
        <p:spPr>
          <a:xfrm>
            <a:off x="548640" y="2560320"/>
            <a:ext cx="11064240" cy="5988850"/>
          </a:xfrm>
          <a:prstGeom prst="rect">
            <a:avLst/>
          </a:prstGeom>
        </p:spPr>
      </p:pic>
      <p:sp>
        <p:nvSpPr>
          <p:cNvPr id="7" name="TextBox 6"/>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8" name="TextBox 7"/>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7315200" cy="365760"/>
          </a:xfrm>
          <a:prstGeom prst="rect">
            <a:avLst/>
          </a:prstGeom>
          <a:noFill/>
        </p:spPr>
        <p:txBody>
          <a:bodyPr wrap="square" lIns="0" rIns="0" tIns="0" bIns="0" anchor="t">
            <a:spAutoFit/>
          </a:bodyPr>
          <a:lstStyle/>
          <a:p>
            <a:pPr algn="l"/>
            <a:r>
              <a:rPr sz="1100" b="1">
                <a:solidFill>
                  <a:srgbClr val="1F4E79"/>
                </a:solidFill>
                <a:latin typeface="Calibri"/>
              </a:rPr>
              <a:t>RESOLUTION  •  THE MANAGED TRANSITION</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200" b="1">
                <a:solidFill>
                  <a:srgbClr val="1F2937"/>
                </a:solidFill>
                <a:latin typeface="Calibri"/>
              </a:rPr>
              <a:t>Gas as a bridge, renewables stacked on top, firm power kept
until storage can carry the load — in that order.</a:t>
            </a:r>
          </a:p>
        </p:txBody>
      </p:sp>
      <p:sp>
        <p:nvSpPr>
          <p:cNvPr id="6" name="Rounded Rectangle 5"/>
          <p:cNvSpPr/>
          <p:nvPr/>
        </p:nvSpPr>
        <p:spPr>
          <a:xfrm>
            <a:off x="548640" y="2743200"/>
            <a:ext cx="3611880" cy="329184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337560" y="2894076"/>
            <a:ext cx="640080" cy="7040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513582" y="3118104"/>
            <a:ext cx="288036" cy="384048"/>
          </a:xfrm>
          <a:prstGeom prst="ellipse">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063240"/>
            <a:ext cx="2331720" cy="365760"/>
          </a:xfrm>
          <a:prstGeom prst="rect">
            <a:avLst/>
          </a:prstGeom>
          <a:noFill/>
        </p:spPr>
        <p:txBody>
          <a:bodyPr wrap="square" lIns="0" rIns="0" tIns="0" bIns="0" anchor="t">
            <a:spAutoFit/>
          </a:bodyPr>
          <a:lstStyle/>
          <a:p>
            <a:pPr algn="l"/>
            <a:r>
              <a:rPr sz="1100" b="1">
                <a:solidFill>
                  <a:srgbClr val="FFFFFF"/>
                </a:solidFill>
                <a:latin typeface="Calibri"/>
              </a:rPr>
              <a:t>NOW — BRIDGE</a:t>
            </a:r>
          </a:p>
        </p:txBody>
      </p:sp>
      <p:sp>
        <p:nvSpPr>
          <p:cNvPr id="10" name="TextBox 9"/>
          <p:cNvSpPr txBox="1"/>
          <p:nvPr/>
        </p:nvSpPr>
        <p:spPr>
          <a:xfrm>
            <a:off x="868680" y="3520440"/>
            <a:ext cx="3063240" cy="640080"/>
          </a:xfrm>
          <a:prstGeom prst="rect">
            <a:avLst/>
          </a:prstGeom>
          <a:noFill/>
        </p:spPr>
        <p:txBody>
          <a:bodyPr wrap="square" lIns="0" rIns="0" tIns="0" bIns="0" anchor="t">
            <a:spAutoFit/>
          </a:bodyPr>
          <a:lstStyle/>
          <a:p>
            <a:pPr algn="l"/>
            <a:r>
              <a:rPr sz="2000" b="1">
                <a:solidFill>
                  <a:srgbClr val="FFFFFF"/>
                </a:solidFill>
                <a:latin typeface="Calibri"/>
              </a:rPr>
              <a:t>Natural gas</a:t>
            </a:r>
          </a:p>
        </p:txBody>
      </p:sp>
      <p:sp>
        <p:nvSpPr>
          <p:cNvPr id="11" name="TextBox 10"/>
          <p:cNvSpPr txBox="1"/>
          <p:nvPr/>
        </p:nvSpPr>
        <p:spPr>
          <a:xfrm>
            <a:off x="868680" y="4389120"/>
            <a:ext cx="3063240" cy="1463040"/>
          </a:xfrm>
          <a:prstGeom prst="rect">
            <a:avLst/>
          </a:prstGeom>
          <a:noFill/>
        </p:spPr>
        <p:txBody>
          <a:bodyPr wrap="square" lIns="0" rIns="0" tIns="0" bIns="0" anchor="t">
            <a:spAutoFit/>
          </a:bodyPr>
          <a:lstStyle/>
          <a:p>
            <a:pPr algn="l"/>
            <a:r>
              <a:rPr sz="1200" b="0">
                <a:solidFill>
                  <a:srgbClr val="FFFFFF"/>
                </a:solidFill>
                <a:latin typeface="Calibri"/>
              </a:rPr>
              <a:t>Emits 50–60% less CO₂ than coal.
Firm and dispatchable — the power that
carried Alberta and would have spared
Zambia.
Africa holds ~13% of proven gas reserves.</a:t>
            </a:r>
          </a:p>
        </p:txBody>
      </p:sp>
      <p:sp>
        <p:nvSpPr>
          <p:cNvPr id="12" name="Rounded Rectangle 11"/>
          <p:cNvSpPr/>
          <p:nvPr/>
        </p:nvSpPr>
        <p:spPr>
          <a:xfrm>
            <a:off x="4297680" y="2743200"/>
            <a:ext cx="3611880" cy="329184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0" y="2971800"/>
            <a:ext cx="548640" cy="5486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ightning Bolt 13"/>
          <p:cNvSpPr/>
          <p:nvPr/>
        </p:nvSpPr>
        <p:spPr>
          <a:xfrm>
            <a:off x="7269480" y="3040380"/>
            <a:ext cx="274320" cy="411480"/>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3063240"/>
            <a:ext cx="2331720" cy="365760"/>
          </a:xfrm>
          <a:prstGeom prst="rect">
            <a:avLst/>
          </a:prstGeom>
          <a:noFill/>
        </p:spPr>
        <p:txBody>
          <a:bodyPr wrap="square" lIns="0" rIns="0" tIns="0" bIns="0" anchor="t">
            <a:spAutoFit/>
          </a:bodyPr>
          <a:lstStyle/>
          <a:p>
            <a:pPr algn="l"/>
            <a:r>
              <a:rPr sz="1100" b="1">
                <a:solidFill>
                  <a:srgbClr val="1F4E79"/>
                </a:solidFill>
                <a:latin typeface="Calibri"/>
              </a:rPr>
              <a:t>BUILD-OUT</a:t>
            </a:r>
          </a:p>
        </p:txBody>
      </p:sp>
      <p:sp>
        <p:nvSpPr>
          <p:cNvPr id="16" name="TextBox 15"/>
          <p:cNvSpPr txBox="1"/>
          <p:nvPr/>
        </p:nvSpPr>
        <p:spPr>
          <a:xfrm>
            <a:off x="4617720" y="3520440"/>
            <a:ext cx="3063240" cy="640080"/>
          </a:xfrm>
          <a:prstGeom prst="rect">
            <a:avLst/>
          </a:prstGeom>
          <a:noFill/>
        </p:spPr>
        <p:txBody>
          <a:bodyPr wrap="square" lIns="0" rIns="0" tIns="0" bIns="0" anchor="t">
            <a:spAutoFit/>
          </a:bodyPr>
          <a:lstStyle/>
          <a:p>
            <a:pPr algn="l"/>
            <a:r>
              <a:rPr sz="2000" b="1">
                <a:solidFill>
                  <a:srgbClr val="1F2937"/>
                </a:solidFill>
                <a:latin typeface="Calibri"/>
              </a:rPr>
              <a:t>Renewables, hard</a:t>
            </a:r>
          </a:p>
        </p:txBody>
      </p:sp>
      <p:sp>
        <p:nvSpPr>
          <p:cNvPr id="17" name="TextBox 16"/>
          <p:cNvSpPr txBox="1"/>
          <p:nvPr/>
        </p:nvSpPr>
        <p:spPr>
          <a:xfrm>
            <a:off x="4617720" y="4389120"/>
            <a:ext cx="3063240" cy="1463040"/>
          </a:xfrm>
          <a:prstGeom prst="rect">
            <a:avLst/>
          </a:prstGeom>
          <a:noFill/>
        </p:spPr>
        <p:txBody>
          <a:bodyPr wrap="square" lIns="0" rIns="0" tIns="0" bIns="0" anchor="t">
            <a:spAutoFit/>
          </a:bodyPr>
          <a:lstStyle/>
          <a:p>
            <a:pPr algn="l"/>
            <a:r>
              <a:rPr sz="1200" b="0">
                <a:solidFill>
                  <a:srgbClr val="4B5563"/>
                </a:solidFill>
                <a:latin typeface="Calibri"/>
              </a:rPr>
              <a:t>Solar in Zambia is already the
cheapest new capacity.
Wind, hydro diversification,
storage — scaled in parallel,
not waited for.</a:t>
            </a:r>
          </a:p>
        </p:txBody>
      </p:sp>
      <p:sp>
        <p:nvSpPr>
          <p:cNvPr id="18" name="Rounded Rectangle 17"/>
          <p:cNvSpPr/>
          <p:nvPr/>
        </p:nvSpPr>
        <p:spPr>
          <a:xfrm>
            <a:off x="8046720" y="2743200"/>
            <a:ext cx="3611880" cy="329184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881360" y="2971800"/>
            <a:ext cx="548640" cy="5486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22508" y="3235147"/>
            <a:ext cx="466344" cy="2194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144707" y="3012948"/>
            <a:ext cx="21945"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3063240"/>
            <a:ext cx="2331720" cy="365760"/>
          </a:xfrm>
          <a:prstGeom prst="rect">
            <a:avLst/>
          </a:prstGeom>
          <a:noFill/>
        </p:spPr>
        <p:txBody>
          <a:bodyPr wrap="square" lIns="0" rIns="0" tIns="0" bIns="0" anchor="t">
            <a:spAutoFit/>
          </a:bodyPr>
          <a:lstStyle/>
          <a:p>
            <a:pPr algn="l"/>
            <a:r>
              <a:rPr sz="1100" b="1">
                <a:solidFill>
                  <a:srgbClr val="1F4E79"/>
                </a:solidFill>
                <a:latin typeface="Calibri"/>
              </a:rPr>
              <a:t>THEN — RETIRE</a:t>
            </a:r>
          </a:p>
        </p:txBody>
      </p:sp>
      <p:sp>
        <p:nvSpPr>
          <p:cNvPr id="23" name="TextBox 22"/>
          <p:cNvSpPr txBox="1"/>
          <p:nvPr/>
        </p:nvSpPr>
        <p:spPr>
          <a:xfrm>
            <a:off x="8366760" y="3520440"/>
            <a:ext cx="3063240" cy="640080"/>
          </a:xfrm>
          <a:prstGeom prst="rect">
            <a:avLst/>
          </a:prstGeom>
          <a:noFill/>
        </p:spPr>
        <p:txBody>
          <a:bodyPr wrap="square" lIns="0" rIns="0" tIns="0" bIns="0" anchor="t">
            <a:spAutoFit/>
          </a:bodyPr>
          <a:lstStyle/>
          <a:p>
            <a:pPr algn="l"/>
            <a:r>
              <a:rPr sz="2000" b="1">
                <a:solidFill>
                  <a:srgbClr val="1F2937"/>
                </a:solidFill>
                <a:latin typeface="Calibri"/>
              </a:rPr>
              <a:t>Phase fossil fuels down</a:t>
            </a:r>
          </a:p>
        </p:txBody>
      </p:sp>
      <p:sp>
        <p:nvSpPr>
          <p:cNvPr id="24" name="TextBox 23"/>
          <p:cNvSpPr txBox="1"/>
          <p:nvPr/>
        </p:nvSpPr>
        <p:spPr>
          <a:xfrm>
            <a:off x="8366760" y="4389120"/>
            <a:ext cx="3063240" cy="1463040"/>
          </a:xfrm>
          <a:prstGeom prst="rect">
            <a:avLst/>
          </a:prstGeom>
          <a:noFill/>
        </p:spPr>
        <p:txBody>
          <a:bodyPr wrap="square" lIns="0" rIns="0" tIns="0" bIns="0" anchor="t">
            <a:spAutoFit/>
          </a:bodyPr>
          <a:lstStyle/>
          <a:p>
            <a:pPr algn="l"/>
            <a:r>
              <a:rPr sz="1200" b="0">
                <a:solidFill>
                  <a:srgbClr val="4B5563"/>
                </a:solidFill>
                <a:latin typeface="Calibri"/>
              </a:rPr>
              <a:t>When grids are firm and storage can
carry the load, retire gas plants.
Not before. Not as a slogan.
As an engineering schedule.</a:t>
            </a:r>
          </a:p>
        </p:txBody>
      </p:sp>
      <p:sp>
        <p:nvSpPr>
          <p:cNvPr id="25" name="Right Arrow 24"/>
          <p:cNvSpPr/>
          <p:nvPr/>
        </p:nvSpPr>
        <p:spPr>
          <a:xfrm>
            <a:off x="4114800" y="4160520"/>
            <a:ext cx="274320" cy="41148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7863840" y="4160520"/>
            <a:ext cx="274320" cy="41148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28" name="TextBox 27"/>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7315200" cy="365760"/>
          </a:xfrm>
          <a:prstGeom prst="rect">
            <a:avLst/>
          </a:prstGeom>
          <a:noFill/>
        </p:spPr>
        <p:txBody>
          <a:bodyPr wrap="square" lIns="0" rIns="0" tIns="0" bIns="0" anchor="t">
            <a:spAutoFit/>
          </a:bodyPr>
          <a:lstStyle/>
          <a:p>
            <a:pPr algn="l"/>
            <a:r>
              <a:rPr sz="1100" b="1">
                <a:solidFill>
                  <a:srgbClr val="1F4E79"/>
                </a:solidFill>
                <a:latin typeface="Calibri"/>
              </a:rPr>
              <a:t>APPENDIX  •  SOURCES</a:t>
            </a:r>
          </a:p>
        </p:txBody>
      </p:sp>
      <p:sp>
        <p:nvSpPr>
          <p:cNvPr id="5" name="TextBox 4"/>
          <p:cNvSpPr txBox="1"/>
          <p:nvPr/>
        </p:nvSpPr>
        <p:spPr>
          <a:xfrm>
            <a:off x="548640" y="1005840"/>
            <a:ext cx="10972800" cy="731520"/>
          </a:xfrm>
          <a:prstGeom prst="rect">
            <a:avLst/>
          </a:prstGeom>
          <a:noFill/>
        </p:spPr>
        <p:txBody>
          <a:bodyPr wrap="square" lIns="0" rIns="0" tIns="0" bIns="0" anchor="t">
            <a:spAutoFit/>
          </a:bodyPr>
          <a:lstStyle/>
          <a:p>
            <a:pPr algn="l"/>
            <a:r>
              <a:rPr sz="2200" b="1">
                <a:solidFill>
                  <a:srgbClr val="1F2937"/>
                </a:solidFill>
                <a:latin typeface="Calibri"/>
              </a:rPr>
              <a:t>Every statistic on every slide, with a citation.</a:t>
            </a:r>
          </a:p>
        </p:txBody>
      </p:sp>
      <p:sp>
        <p:nvSpPr>
          <p:cNvPr id="6" name="TextBox 5"/>
          <p:cNvSpPr txBox="1"/>
          <p:nvPr/>
        </p:nvSpPr>
        <p:spPr>
          <a:xfrm>
            <a:off x="548640" y="1554480"/>
            <a:ext cx="10972800" cy="365760"/>
          </a:xfrm>
          <a:prstGeom prst="rect">
            <a:avLst/>
          </a:prstGeom>
          <a:noFill/>
        </p:spPr>
        <p:txBody>
          <a:bodyPr wrap="square" lIns="0" rIns="0" tIns="0" bIns="0" anchor="t">
            <a:spAutoFit/>
          </a:bodyPr>
          <a:lstStyle/>
          <a:p>
            <a:pPr algn="l"/>
            <a:r>
              <a:rPr sz="1200" b="0">
                <a:solidFill>
                  <a:srgbClr val="4B5563"/>
                </a:solidFill>
                <a:latin typeface="Calibri"/>
              </a:rPr>
              <a:t>Full notes preserved in the repo at  research/notes.md.</a:t>
            </a:r>
          </a:p>
        </p:txBody>
      </p:sp>
      <p:sp>
        <p:nvSpPr>
          <p:cNvPr id="7" name="Oval 6"/>
          <p:cNvSpPr/>
          <p:nvPr/>
        </p:nvSpPr>
        <p:spPr>
          <a:xfrm>
            <a:off x="594360" y="228600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94560"/>
            <a:ext cx="5257800" cy="228600"/>
          </a:xfrm>
          <a:prstGeom prst="rect">
            <a:avLst/>
          </a:prstGeom>
          <a:noFill/>
        </p:spPr>
        <p:txBody>
          <a:bodyPr wrap="square" lIns="0" rIns="0" tIns="0" bIns="0" anchor="t">
            <a:spAutoFit/>
          </a:bodyPr>
          <a:lstStyle/>
          <a:p>
            <a:pPr algn="l"/>
            <a:r>
              <a:rPr sz="1100" b="1">
                <a:solidFill>
                  <a:srgbClr val="1F2937"/>
                </a:solidFill>
                <a:latin typeface="Calibri"/>
              </a:rPr>
              <a:t>Africa electricity access (~600M without)</a:t>
            </a:r>
          </a:p>
        </p:txBody>
      </p:sp>
      <p:sp>
        <p:nvSpPr>
          <p:cNvPr id="9" name="TextBox 8"/>
          <p:cNvSpPr txBox="1"/>
          <p:nvPr/>
        </p:nvSpPr>
        <p:spPr>
          <a:xfrm>
            <a:off x="777240" y="2395728"/>
            <a:ext cx="5257800" cy="228600"/>
          </a:xfrm>
          <a:prstGeom prst="rect">
            <a:avLst/>
          </a:prstGeom>
          <a:noFill/>
        </p:spPr>
        <p:txBody>
          <a:bodyPr wrap="square" lIns="0" rIns="0" tIns="0" bIns="0" anchor="t">
            <a:spAutoFit/>
          </a:bodyPr>
          <a:lstStyle/>
          <a:p>
            <a:pPr algn="l"/>
            <a:r>
              <a:rPr sz="1000" b="0">
                <a:solidFill>
                  <a:srgbClr val="4B5563"/>
                </a:solidFill>
                <a:latin typeface="Calibri"/>
              </a:rPr>
              <a:t>IEA, Financing Electricity Access in Africa (2025)</a:t>
            </a:r>
          </a:p>
        </p:txBody>
      </p:sp>
      <p:sp>
        <p:nvSpPr>
          <p:cNvPr id="10" name="Oval 9"/>
          <p:cNvSpPr/>
          <p:nvPr/>
        </p:nvSpPr>
        <p:spPr>
          <a:xfrm>
            <a:off x="6400800" y="228600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194560"/>
            <a:ext cx="5257800" cy="228600"/>
          </a:xfrm>
          <a:prstGeom prst="rect">
            <a:avLst/>
          </a:prstGeom>
          <a:noFill/>
        </p:spPr>
        <p:txBody>
          <a:bodyPr wrap="square" lIns="0" rIns="0" tIns="0" bIns="0" anchor="t">
            <a:spAutoFit/>
          </a:bodyPr>
          <a:lstStyle/>
          <a:p>
            <a:pPr algn="l"/>
            <a:r>
              <a:rPr sz="1100" b="1">
                <a:solidFill>
                  <a:srgbClr val="1F2937"/>
                </a:solidFill>
                <a:latin typeface="Calibri"/>
              </a:rPr>
              <a:t>Africa cumulative CO₂ emissions (&lt;3%; sub-Saharan ~0.55%)</a:t>
            </a:r>
          </a:p>
        </p:txBody>
      </p:sp>
      <p:sp>
        <p:nvSpPr>
          <p:cNvPr id="12" name="TextBox 11"/>
          <p:cNvSpPr txBox="1"/>
          <p:nvPr/>
        </p:nvSpPr>
        <p:spPr>
          <a:xfrm>
            <a:off x="6583680" y="2395728"/>
            <a:ext cx="5257800" cy="228600"/>
          </a:xfrm>
          <a:prstGeom prst="rect">
            <a:avLst/>
          </a:prstGeom>
          <a:noFill/>
        </p:spPr>
        <p:txBody>
          <a:bodyPr wrap="square" lIns="0" rIns="0" tIns="0" bIns="0" anchor="t">
            <a:spAutoFit/>
          </a:bodyPr>
          <a:lstStyle/>
          <a:p>
            <a:pPr algn="l"/>
            <a:r>
              <a:rPr sz="1000" b="0">
                <a:solidFill>
                  <a:srgbClr val="4B5563"/>
                </a:solidFill>
                <a:latin typeface="Calibri"/>
              </a:rPr>
              <a:t>Energy for Growth Hub (citing Our World in Data)</a:t>
            </a:r>
          </a:p>
        </p:txBody>
      </p:sp>
      <p:sp>
        <p:nvSpPr>
          <p:cNvPr id="13" name="Oval 12"/>
          <p:cNvSpPr/>
          <p:nvPr/>
        </p:nvSpPr>
        <p:spPr>
          <a:xfrm>
            <a:off x="594360" y="283464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743200"/>
            <a:ext cx="5257800" cy="228600"/>
          </a:xfrm>
          <a:prstGeom prst="rect">
            <a:avLst/>
          </a:prstGeom>
          <a:noFill/>
        </p:spPr>
        <p:txBody>
          <a:bodyPr wrap="square" lIns="0" rIns="0" tIns="0" bIns="0" anchor="t">
            <a:spAutoFit/>
          </a:bodyPr>
          <a:lstStyle/>
          <a:p>
            <a:pPr algn="l"/>
            <a:r>
              <a:rPr sz="1100" b="1">
                <a:solidFill>
                  <a:srgbClr val="1F2937"/>
                </a:solidFill>
                <a:latin typeface="Calibri"/>
              </a:rPr>
              <a:t>Africa population share (~17% global)</a:t>
            </a:r>
          </a:p>
        </p:txBody>
      </p:sp>
      <p:sp>
        <p:nvSpPr>
          <p:cNvPr id="15" name="TextBox 14"/>
          <p:cNvSpPr txBox="1"/>
          <p:nvPr/>
        </p:nvSpPr>
        <p:spPr>
          <a:xfrm>
            <a:off x="777240" y="2944368"/>
            <a:ext cx="5257800" cy="228600"/>
          </a:xfrm>
          <a:prstGeom prst="rect">
            <a:avLst/>
          </a:prstGeom>
          <a:noFill/>
        </p:spPr>
        <p:txBody>
          <a:bodyPr wrap="square" lIns="0" rIns="0" tIns="0" bIns="0" anchor="t">
            <a:spAutoFit/>
          </a:bodyPr>
          <a:lstStyle/>
          <a:p>
            <a:pPr algn="l"/>
            <a:r>
              <a:rPr sz="1000" b="0">
                <a:solidFill>
                  <a:srgbClr val="4B5563"/>
                </a:solidFill>
                <a:latin typeface="Calibri"/>
              </a:rPr>
              <a:t>UN World Population Prospects</a:t>
            </a:r>
          </a:p>
        </p:txBody>
      </p:sp>
      <p:sp>
        <p:nvSpPr>
          <p:cNvPr id="16" name="Oval 15"/>
          <p:cNvSpPr/>
          <p:nvPr/>
        </p:nvSpPr>
        <p:spPr>
          <a:xfrm>
            <a:off x="6400800" y="283464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743200"/>
            <a:ext cx="5257800" cy="228600"/>
          </a:xfrm>
          <a:prstGeom prst="rect">
            <a:avLst/>
          </a:prstGeom>
          <a:noFill/>
        </p:spPr>
        <p:txBody>
          <a:bodyPr wrap="square" lIns="0" rIns="0" tIns="0" bIns="0" anchor="t">
            <a:spAutoFit/>
          </a:bodyPr>
          <a:lstStyle/>
          <a:p>
            <a:pPr algn="l"/>
            <a:r>
              <a:rPr sz="1100" b="1">
                <a:solidFill>
                  <a:srgbClr val="1F2937"/>
                </a:solidFill>
                <a:latin typeface="Calibri"/>
              </a:rPr>
              <a:t>Zambia capacity mix (85% hydropower; ~3,986 MW)</a:t>
            </a:r>
          </a:p>
        </p:txBody>
      </p:sp>
      <p:sp>
        <p:nvSpPr>
          <p:cNvPr id="18" name="TextBox 17"/>
          <p:cNvSpPr txBox="1"/>
          <p:nvPr/>
        </p:nvSpPr>
        <p:spPr>
          <a:xfrm>
            <a:off x="6583680" y="2944368"/>
            <a:ext cx="5257800" cy="228600"/>
          </a:xfrm>
          <a:prstGeom prst="rect">
            <a:avLst/>
          </a:prstGeom>
          <a:noFill/>
        </p:spPr>
        <p:txBody>
          <a:bodyPr wrap="square" lIns="0" rIns="0" tIns="0" bIns="0" anchor="t">
            <a:spAutoFit/>
          </a:bodyPr>
          <a:lstStyle/>
          <a:p>
            <a:pPr algn="l"/>
            <a:r>
              <a:rPr sz="1000" b="0">
                <a:solidFill>
                  <a:srgbClr val="4B5563"/>
                </a:solidFill>
                <a:latin typeface="Calibri"/>
              </a:rPr>
              <a:t>Global Legal Insights, Energy Laws and Regulations 2025: Zambia</a:t>
            </a:r>
          </a:p>
        </p:txBody>
      </p:sp>
      <p:sp>
        <p:nvSpPr>
          <p:cNvPr id="19" name="Oval 18"/>
          <p:cNvSpPr/>
          <p:nvPr/>
        </p:nvSpPr>
        <p:spPr>
          <a:xfrm>
            <a:off x="594360" y="338328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91840"/>
            <a:ext cx="5257800" cy="228600"/>
          </a:xfrm>
          <a:prstGeom prst="rect">
            <a:avLst/>
          </a:prstGeom>
          <a:noFill/>
        </p:spPr>
        <p:txBody>
          <a:bodyPr wrap="square" lIns="0" rIns="0" tIns="0" bIns="0" anchor="t">
            <a:spAutoFit/>
          </a:bodyPr>
          <a:lstStyle/>
          <a:p>
            <a:pPr algn="l"/>
            <a:r>
              <a:rPr sz="1100" b="1">
                <a:solidFill>
                  <a:srgbClr val="1F2937"/>
                </a:solidFill>
                <a:latin typeface="Calibri"/>
              </a:rPr>
              <a:t>Zambia 2024 load shedding (up to 21 hrs/day)</a:t>
            </a:r>
          </a:p>
        </p:txBody>
      </p:sp>
      <p:sp>
        <p:nvSpPr>
          <p:cNvPr id="21" name="TextBox 20"/>
          <p:cNvSpPr txBox="1"/>
          <p:nvPr/>
        </p:nvSpPr>
        <p:spPr>
          <a:xfrm>
            <a:off x="777240" y="3493008"/>
            <a:ext cx="5257800" cy="228600"/>
          </a:xfrm>
          <a:prstGeom prst="rect">
            <a:avLst/>
          </a:prstGeom>
          <a:noFill/>
        </p:spPr>
        <p:txBody>
          <a:bodyPr wrap="square" lIns="0" rIns="0" tIns="0" bIns="0" anchor="t">
            <a:spAutoFit/>
          </a:bodyPr>
          <a:lstStyle/>
          <a:p>
            <a:pPr algn="l"/>
            <a:r>
              <a:rPr sz="1000" b="0">
                <a:solidFill>
                  <a:srgbClr val="4B5563"/>
                </a:solidFill>
                <a:latin typeface="Calibri"/>
              </a:rPr>
              <a:t>Pulitzer Center; Afrobarometer AD1178 (2025)</a:t>
            </a:r>
          </a:p>
        </p:txBody>
      </p:sp>
      <p:sp>
        <p:nvSpPr>
          <p:cNvPr id="22" name="Oval 21"/>
          <p:cNvSpPr/>
          <p:nvPr/>
        </p:nvSpPr>
        <p:spPr>
          <a:xfrm>
            <a:off x="6400800" y="338328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3291840"/>
            <a:ext cx="5257800" cy="228600"/>
          </a:xfrm>
          <a:prstGeom prst="rect">
            <a:avLst/>
          </a:prstGeom>
          <a:noFill/>
        </p:spPr>
        <p:txBody>
          <a:bodyPr wrap="square" lIns="0" rIns="0" tIns="0" bIns="0" anchor="t">
            <a:spAutoFit/>
          </a:bodyPr>
          <a:lstStyle/>
          <a:p>
            <a:pPr algn="l"/>
            <a:r>
              <a:rPr sz="1100" b="1">
                <a:solidFill>
                  <a:srgbClr val="1F2937"/>
                </a:solidFill>
                <a:latin typeface="Calibri"/>
              </a:rPr>
              <a:t>Cold kills ~9× more than heat (~4.6M vs ~489k deaths/yr)</a:t>
            </a:r>
          </a:p>
        </p:txBody>
      </p:sp>
      <p:sp>
        <p:nvSpPr>
          <p:cNvPr id="24" name="TextBox 23"/>
          <p:cNvSpPr txBox="1"/>
          <p:nvPr/>
        </p:nvSpPr>
        <p:spPr>
          <a:xfrm>
            <a:off x="6583680" y="3493008"/>
            <a:ext cx="5257800" cy="228600"/>
          </a:xfrm>
          <a:prstGeom prst="rect">
            <a:avLst/>
          </a:prstGeom>
          <a:noFill/>
        </p:spPr>
        <p:txBody>
          <a:bodyPr wrap="square" lIns="0" rIns="0" tIns="0" bIns="0" anchor="t">
            <a:spAutoFit/>
          </a:bodyPr>
          <a:lstStyle/>
          <a:p>
            <a:pPr algn="l"/>
            <a:r>
              <a:rPr sz="1000" b="0">
                <a:solidFill>
                  <a:srgbClr val="4B5563"/>
                </a:solidFill>
                <a:latin typeface="Calibri"/>
              </a:rPr>
              <a:t>The Lancet Planetary Health (Gasparrini et al.)</a:t>
            </a:r>
          </a:p>
        </p:txBody>
      </p:sp>
      <p:sp>
        <p:nvSpPr>
          <p:cNvPr id="25" name="Oval 24"/>
          <p:cNvSpPr/>
          <p:nvPr/>
        </p:nvSpPr>
        <p:spPr>
          <a:xfrm>
            <a:off x="594360" y="393192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840480"/>
            <a:ext cx="5257800" cy="228600"/>
          </a:xfrm>
          <a:prstGeom prst="rect">
            <a:avLst/>
          </a:prstGeom>
          <a:noFill/>
        </p:spPr>
        <p:txBody>
          <a:bodyPr wrap="square" lIns="0" rIns="0" tIns="0" bIns="0" anchor="t">
            <a:spAutoFit/>
          </a:bodyPr>
          <a:lstStyle/>
          <a:p>
            <a:pPr algn="l"/>
            <a:r>
              <a:rPr sz="1100" b="1">
                <a:solidFill>
                  <a:srgbClr val="1F2937"/>
                </a:solidFill>
                <a:latin typeface="Calibri"/>
              </a:rPr>
              <a:t>Canadian homes heated by gas (~half; 72% AB, 62% ON)</a:t>
            </a:r>
          </a:p>
        </p:txBody>
      </p:sp>
      <p:sp>
        <p:nvSpPr>
          <p:cNvPr id="27" name="TextBox 26"/>
          <p:cNvSpPr txBox="1"/>
          <p:nvPr/>
        </p:nvSpPr>
        <p:spPr>
          <a:xfrm>
            <a:off x="777240" y="4041648"/>
            <a:ext cx="5257800" cy="228600"/>
          </a:xfrm>
          <a:prstGeom prst="rect">
            <a:avLst/>
          </a:prstGeom>
          <a:noFill/>
        </p:spPr>
        <p:txBody>
          <a:bodyPr wrap="square" lIns="0" rIns="0" tIns="0" bIns="0" anchor="t">
            <a:spAutoFit/>
          </a:bodyPr>
          <a:lstStyle/>
          <a:p>
            <a:pPr algn="l"/>
            <a:r>
              <a:rPr sz="1000" b="0">
                <a:solidFill>
                  <a:srgbClr val="4B5563"/>
                </a:solidFill>
                <a:latin typeface="Calibri"/>
              </a:rPr>
              <a:t>Statistics Canada — How Canadians heat their home</a:t>
            </a:r>
          </a:p>
        </p:txBody>
      </p:sp>
      <p:sp>
        <p:nvSpPr>
          <p:cNvPr id="28" name="Oval 27"/>
          <p:cNvSpPr/>
          <p:nvPr/>
        </p:nvSpPr>
        <p:spPr>
          <a:xfrm>
            <a:off x="6400800" y="393192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3840480"/>
            <a:ext cx="5257800" cy="228600"/>
          </a:xfrm>
          <a:prstGeom prst="rect">
            <a:avLst/>
          </a:prstGeom>
          <a:noFill/>
        </p:spPr>
        <p:txBody>
          <a:bodyPr wrap="square" lIns="0" rIns="0" tIns="0" bIns="0" anchor="t">
            <a:spAutoFit/>
          </a:bodyPr>
          <a:lstStyle/>
          <a:p>
            <a:pPr algn="l"/>
            <a:r>
              <a:rPr sz="1100" b="1">
                <a:solidFill>
                  <a:srgbClr val="1F2937"/>
                </a:solidFill>
                <a:latin typeface="Calibri"/>
              </a:rPr>
              <a:t>Alberta cold-snap grid alert (record 12,384 MW; reserves to 10 MW)</a:t>
            </a:r>
          </a:p>
        </p:txBody>
      </p:sp>
      <p:sp>
        <p:nvSpPr>
          <p:cNvPr id="30" name="TextBox 29"/>
          <p:cNvSpPr txBox="1"/>
          <p:nvPr/>
        </p:nvSpPr>
        <p:spPr>
          <a:xfrm>
            <a:off x="6583680" y="4041648"/>
            <a:ext cx="5257800" cy="228600"/>
          </a:xfrm>
          <a:prstGeom prst="rect">
            <a:avLst/>
          </a:prstGeom>
          <a:noFill/>
        </p:spPr>
        <p:txBody>
          <a:bodyPr wrap="square" lIns="0" rIns="0" tIns="0" bIns="0" anchor="t">
            <a:spAutoFit/>
          </a:bodyPr>
          <a:lstStyle/>
          <a:p>
            <a:pPr algn="l"/>
            <a:r>
              <a:rPr sz="1000" b="0">
                <a:solidFill>
                  <a:srgbClr val="4B5563"/>
                </a:solidFill>
                <a:latin typeface="Calibri"/>
              </a:rPr>
              <a:t>AESO / Alberta MSA, Jan &amp; Apr 2024 Event Report</a:t>
            </a:r>
          </a:p>
        </p:txBody>
      </p:sp>
      <p:sp>
        <p:nvSpPr>
          <p:cNvPr id="31" name="Oval 30"/>
          <p:cNvSpPr/>
          <p:nvPr/>
        </p:nvSpPr>
        <p:spPr>
          <a:xfrm>
            <a:off x="594360" y="448056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389120"/>
            <a:ext cx="5257800" cy="228600"/>
          </a:xfrm>
          <a:prstGeom prst="rect">
            <a:avLst/>
          </a:prstGeom>
          <a:noFill/>
        </p:spPr>
        <p:txBody>
          <a:bodyPr wrap="square" lIns="0" rIns="0" tIns="0" bIns="0" anchor="t">
            <a:spAutoFit/>
          </a:bodyPr>
          <a:lstStyle/>
          <a:p>
            <a:pPr algn="l"/>
            <a:r>
              <a:rPr sz="1100" b="1">
                <a:solidFill>
                  <a:srgbClr val="1F2937"/>
                </a:solidFill>
                <a:latin typeface="Calibri"/>
              </a:rPr>
              <a:t>Natural gas vs coal CO₂ (50–60% less); Africa gas reserves (~13%)</a:t>
            </a:r>
          </a:p>
        </p:txBody>
      </p:sp>
      <p:sp>
        <p:nvSpPr>
          <p:cNvPr id="33" name="TextBox 32"/>
          <p:cNvSpPr txBox="1"/>
          <p:nvPr/>
        </p:nvSpPr>
        <p:spPr>
          <a:xfrm>
            <a:off x="777240" y="4590288"/>
            <a:ext cx="5257800" cy="228600"/>
          </a:xfrm>
          <a:prstGeom prst="rect">
            <a:avLst/>
          </a:prstGeom>
          <a:noFill/>
        </p:spPr>
        <p:txBody>
          <a:bodyPr wrap="square" lIns="0" rIns="0" tIns="0" bIns="0" anchor="t">
            <a:spAutoFit/>
          </a:bodyPr>
          <a:lstStyle/>
          <a:p>
            <a:pPr algn="l"/>
            <a:r>
              <a:rPr sz="1000" b="0">
                <a:solidFill>
                  <a:srgbClr val="4B5563"/>
                </a:solidFill>
                <a:latin typeface="Calibri"/>
              </a:rPr>
              <a:t>Atlantic Council, Natural gas in Africa's energy transition</a:t>
            </a:r>
          </a:p>
        </p:txBody>
      </p:sp>
      <p:sp>
        <p:nvSpPr>
          <p:cNvPr id="34" name="Oval 33"/>
          <p:cNvSpPr/>
          <p:nvPr/>
        </p:nvSpPr>
        <p:spPr>
          <a:xfrm>
            <a:off x="6400800" y="448056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4389120"/>
            <a:ext cx="5257800" cy="228600"/>
          </a:xfrm>
          <a:prstGeom prst="rect">
            <a:avLst/>
          </a:prstGeom>
          <a:noFill/>
        </p:spPr>
        <p:txBody>
          <a:bodyPr wrap="square" lIns="0" rIns="0" tIns="0" bIns="0" anchor="t">
            <a:spAutoFit/>
          </a:bodyPr>
          <a:lstStyle/>
          <a:p>
            <a:pPr algn="l"/>
            <a:r>
              <a:rPr sz="1100" b="1">
                <a:solidFill>
                  <a:srgbClr val="1F2937"/>
                </a:solidFill>
                <a:latin typeface="Calibri"/>
              </a:rPr>
              <a:t>Steel &amp; cement embodied emissions in renewables</a:t>
            </a:r>
          </a:p>
        </p:txBody>
      </p:sp>
      <p:sp>
        <p:nvSpPr>
          <p:cNvPr id="36" name="TextBox 35"/>
          <p:cNvSpPr txBox="1"/>
          <p:nvPr/>
        </p:nvSpPr>
        <p:spPr>
          <a:xfrm>
            <a:off x="6583680" y="4590288"/>
            <a:ext cx="5257800" cy="228600"/>
          </a:xfrm>
          <a:prstGeom prst="rect">
            <a:avLst/>
          </a:prstGeom>
          <a:noFill/>
        </p:spPr>
        <p:txBody>
          <a:bodyPr wrap="square" lIns="0" rIns="0" tIns="0" bIns="0" anchor="t">
            <a:spAutoFit/>
          </a:bodyPr>
          <a:lstStyle/>
          <a:p>
            <a:pPr algn="l"/>
            <a:r>
              <a:rPr sz="1000" b="0">
                <a:solidFill>
                  <a:srgbClr val="4B5563"/>
                </a:solidFill>
                <a:latin typeface="Calibri"/>
              </a:rPr>
              <a:t>MIT Climate Portal</a:t>
            </a:r>
          </a:p>
        </p:txBody>
      </p:sp>
      <p:sp>
        <p:nvSpPr>
          <p:cNvPr id="37" name="Oval 36"/>
          <p:cNvSpPr/>
          <p:nvPr/>
        </p:nvSpPr>
        <p:spPr>
          <a:xfrm>
            <a:off x="594360" y="502920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937760"/>
            <a:ext cx="5257800" cy="228600"/>
          </a:xfrm>
          <a:prstGeom prst="rect">
            <a:avLst/>
          </a:prstGeom>
          <a:noFill/>
        </p:spPr>
        <p:txBody>
          <a:bodyPr wrap="square" lIns="0" rIns="0" tIns="0" bIns="0" anchor="t">
            <a:spAutoFit/>
          </a:bodyPr>
          <a:lstStyle/>
          <a:p>
            <a:pPr algn="l"/>
            <a:r>
              <a:rPr sz="1100" b="1">
                <a:solidFill>
                  <a:srgbClr val="1F2937"/>
                </a:solidFill>
                <a:latin typeface="Calibri"/>
              </a:rPr>
              <a:t>Life expectancy vs electricity per capita (illustrative)</a:t>
            </a:r>
          </a:p>
        </p:txBody>
      </p:sp>
      <p:sp>
        <p:nvSpPr>
          <p:cNvPr id="39" name="TextBox 38"/>
          <p:cNvSpPr txBox="1"/>
          <p:nvPr/>
        </p:nvSpPr>
        <p:spPr>
          <a:xfrm>
            <a:off x="777240" y="5138928"/>
            <a:ext cx="5257800" cy="228600"/>
          </a:xfrm>
          <a:prstGeom prst="rect">
            <a:avLst/>
          </a:prstGeom>
          <a:noFill/>
        </p:spPr>
        <p:txBody>
          <a:bodyPr wrap="square" lIns="0" rIns="0" tIns="0" bIns="0" anchor="t">
            <a:spAutoFit/>
          </a:bodyPr>
          <a:lstStyle/>
          <a:p>
            <a:pPr algn="l"/>
            <a:r>
              <a:rPr sz="1000" b="0">
                <a:solidFill>
                  <a:srgbClr val="4B5563"/>
                </a:solidFill>
                <a:latin typeface="Calibri"/>
              </a:rPr>
              <a:t>World Bank Indicators (kWh/capita; life expectancy at birth)</a:t>
            </a:r>
          </a:p>
        </p:txBody>
      </p:sp>
      <p:sp>
        <p:nvSpPr>
          <p:cNvPr id="40" name="TextBox 39"/>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41" name="TextBox 40"/>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