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sec) Last week I argued we should cut fossil fuels. Today I want to make the most honest counter-argument I can — not because I've changed my mind on climate change, but because the picture I painted was incomplete.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sec) This is what I want you to walk out of the room remembering. Let me show you how I got there.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The climate data hasn’t moved. CO₂ is rising, temperatures are rising, disasters are increasing. That deck was honest about half the story. Today I want to show you the other half.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 My last deck counted future deaths from climate change. It did not count the 3.2 million people who die EVERY YEAR right now from cooking on open fires because they have no clean fuel. In sub-Saharan Africa alone that’s 815,000 deaths a year — most of them women and children. Energy poverty has a body count today.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 Look at this asymmetry. Every wealthy country on Earth got rich by burning coal, then oil, then gas. They are now asking the continent that contributed least to the problem to skip that ladder — using clean-energy technology whose OWN supply chain still runs on fossil fuels. That’s not a climate plan. That’s an injustice with a green sticker on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 We lived this. We did the ‘clean’ thing — 85% of our installed capacity is hydropower. Then the climate broke our climate solution. ZESCO ran load shedding of up to 21 hours a day. The lesson is NOT ‘burn more coal.’ The lesson is: firm power matters, and pretending otherwise is paid for in dark hospitals and empty cold-chains.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 I’m not arguing fossil fuels forever. I’m arguing for a MANAGED transition. Natural gas as a bridge — emits half what coal does and Africa holds 13% of global reserves. Renewables scaled aggressively on top — solar in Zambia is already the cheapest new capacity. And firm power kept on until storage and grid infrastructure can stand alone. That’s how we lift the bottom billion while decarbonising the top.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Two columns in the ledger. My first deck only filled out one of them. The honest case for fossil fuels — really, the honest case for a managed transition — is the column my first deck left blank. Thank you.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840480"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0"/>
            <a:ext cx="3200400" cy="914400"/>
          </a:xfrm>
          <a:prstGeom prst="rect">
            <a:avLst/>
          </a:prstGeom>
          <a:noFill/>
        </p:spPr>
        <p:txBody>
          <a:bodyPr wrap="square" lIns="0" rIns="0" tIns="0" bIns="0" anchor="t">
            <a:spAutoFit/>
          </a:bodyPr>
          <a:lstStyle/>
          <a:p>
            <a:pPr algn="l"/>
            <a:r>
              <a:rPr sz="4400" b="1">
                <a:solidFill>
                  <a:srgbClr val="FFFFFF"/>
                </a:solidFill>
                <a:latin typeface="Calibri"/>
              </a:rPr>
              <a:t>The Case</a:t>
            </a:r>
          </a:p>
        </p:txBody>
      </p:sp>
      <p:sp>
        <p:nvSpPr>
          <p:cNvPr id="4" name="TextBox 3"/>
          <p:cNvSpPr txBox="1"/>
          <p:nvPr/>
        </p:nvSpPr>
        <p:spPr>
          <a:xfrm>
            <a:off x="457200" y="3383280"/>
            <a:ext cx="3200400" cy="914400"/>
          </a:xfrm>
          <a:prstGeom prst="rect">
            <a:avLst/>
          </a:prstGeom>
          <a:noFill/>
        </p:spPr>
        <p:txBody>
          <a:bodyPr wrap="square" lIns="0" rIns="0" tIns="0" bIns="0" anchor="t">
            <a:spAutoFit/>
          </a:bodyPr>
          <a:lstStyle/>
          <a:p>
            <a:pPr algn="l"/>
            <a:r>
              <a:rPr sz="4400" b="1">
                <a:solidFill>
                  <a:srgbClr val="FFFFFF"/>
                </a:solidFill>
                <a:latin typeface="Calibri"/>
              </a:rPr>
              <a:t>For Fossil Fuels</a:t>
            </a:r>
          </a:p>
        </p:txBody>
      </p:sp>
      <p:sp>
        <p:nvSpPr>
          <p:cNvPr id="5" name="TextBox 4"/>
          <p:cNvSpPr txBox="1"/>
          <p:nvPr/>
        </p:nvSpPr>
        <p:spPr>
          <a:xfrm>
            <a:off x="457200" y="4572000"/>
            <a:ext cx="3200400" cy="457200"/>
          </a:xfrm>
          <a:prstGeom prst="rect">
            <a:avLst/>
          </a:prstGeom>
          <a:noFill/>
        </p:spPr>
        <p:txBody>
          <a:bodyPr wrap="square" lIns="0" rIns="0" tIns="0" bIns="0" anchor="t">
            <a:spAutoFit/>
          </a:bodyPr>
          <a:lstStyle/>
          <a:p>
            <a:pPr algn="l"/>
            <a:r>
              <a:rPr sz="1600" b="0">
                <a:solidFill>
                  <a:srgbClr val="FFFFFF"/>
                </a:solidFill>
                <a:latin typeface="Calibri"/>
              </a:rPr>
              <a:t>A steelman follow-up</a:t>
            </a:r>
          </a:p>
        </p:txBody>
      </p:sp>
      <p:sp>
        <p:nvSpPr>
          <p:cNvPr id="6" name="TextBox 5"/>
          <p:cNvSpPr txBox="1"/>
          <p:nvPr/>
        </p:nvSpPr>
        <p:spPr>
          <a:xfrm>
            <a:off x="4572000" y="2194560"/>
            <a:ext cx="6858000" cy="548640"/>
          </a:xfrm>
          <a:prstGeom prst="rect">
            <a:avLst/>
          </a:prstGeom>
          <a:noFill/>
        </p:spPr>
        <p:txBody>
          <a:bodyPr wrap="square" lIns="0" rIns="0" tIns="0" bIns="0" anchor="t">
            <a:spAutoFit/>
          </a:bodyPr>
          <a:lstStyle/>
          <a:p>
            <a:pPr algn="l"/>
            <a:r>
              <a:rPr sz="1400" b="0">
                <a:solidFill>
                  <a:srgbClr val="4B5563"/>
                </a:solidFill>
                <a:latin typeface="Calibri"/>
              </a:rPr>
              <a:t>Follow-up to:</a:t>
            </a:r>
          </a:p>
        </p:txBody>
      </p:sp>
      <p:sp>
        <p:nvSpPr>
          <p:cNvPr id="7" name="TextBox 6"/>
          <p:cNvSpPr txBox="1"/>
          <p:nvPr/>
        </p:nvSpPr>
        <p:spPr>
          <a:xfrm>
            <a:off x="4572000" y="2560320"/>
            <a:ext cx="6858000" cy="1371600"/>
          </a:xfrm>
          <a:prstGeom prst="rect">
            <a:avLst/>
          </a:prstGeom>
          <a:noFill/>
        </p:spPr>
        <p:txBody>
          <a:bodyPr wrap="square" lIns="0" rIns="0" tIns="0" bIns="0" anchor="t">
            <a:spAutoFit/>
          </a:bodyPr>
          <a:lstStyle/>
          <a:p>
            <a:pPr algn="l"/>
            <a:r>
              <a:rPr sz="2200" b="0">
                <a:solidFill>
                  <a:srgbClr val="1F2937"/>
                </a:solidFill>
                <a:latin typeface="Calibri"/>
              </a:rPr>
              <a:t>“How Climate Change Affects the World We Live In”</a:t>
            </a:r>
          </a:p>
        </p:txBody>
      </p:sp>
      <p:sp>
        <p:nvSpPr>
          <p:cNvPr id="8" name="TextBox 7"/>
          <p:cNvSpPr txBox="1"/>
          <p:nvPr/>
        </p:nvSpPr>
        <p:spPr>
          <a:xfrm>
            <a:off x="4572000" y="4389120"/>
            <a:ext cx="6858000" cy="457200"/>
          </a:xfrm>
          <a:prstGeom prst="rect">
            <a:avLst/>
          </a:prstGeom>
          <a:noFill/>
        </p:spPr>
        <p:txBody>
          <a:bodyPr wrap="square" lIns="0" rIns="0" tIns="0" bIns="0" anchor="t">
            <a:spAutoFit/>
          </a:bodyPr>
          <a:lstStyle/>
          <a:p>
            <a:pPr algn="l"/>
            <a:r>
              <a:rPr sz="2000" b="1">
                <a:solidFill>
                  <a:srgbClr val="1F2937"/>
                </a:solidFill>
                <a:latin typeface="Calibri"/>
              </a:rPr>
              <a:t>Choolwe</a:t>
            </a:r>
          </a:p>
        </p:txBody>
      </p:sp>
      <p:sp>
        <p:nvSpPr>
          <p:cNvPr id="9" name="TextBox 8"/>
          <p:cNvSpPr txBox="1"/>
          <p:nvPr/>
        </p:nvSpPr>
        <p:spPr>
          <a:xfrm>
            <a:off x="4572000" y="4846320"/>
            <a:ext cx="6858000" cy="365760"/>
          </a:xfrm>
          <a:prstGeom prst="rect">
            <a:avLst/>
          </a:prstGeom>
          <a:noFill/>
        </p:spPr>
        <p:txBody>
          <a:bodyPr wrap="square" lIns="0" rIns="0" tIns="0" bIns="0" anchor="t">
            <a:spAutoFit/>
          </a:bodyPr>
          <a:lstStyle/>
          <a:p>
            <a:pPr algn="l"/>
            <a:r>
              <a:rPr sz="1300" b="0">
                <a:solidFill>
                  <a:srgbClr val="4B5563"/>
                </a:solidFill>
                <a:latin typeface="Calibri"/>
              </a:rPr>
              <a:t>Analytics in Training  •  May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828800"/>
            <a:ext cx="10058400" cy="3474720"/>
          </a:xfrm>
          <a:prstGeom prst="rect">
            <a:avLst/>
          </a:prstGeom>
          <a:noFill/>
        </p:spPr>
        <p:txBody>
          <a:bodyPr wrap="square" lIns="0" rIns="0" anchor="t">
            <a:spAutoFit/>
          </a:bodyPr>
          <a:lstStyle/>
          <a:p>
            <a:pPr algn="l"/>
            <a:r>
              <a:rPr sz="3000">
                <a:solidFill>
                  <a:srgbClr val="4B5563"/>
                </a:solidFill>
                <a:latin typeface="Calibri"/>
              </a:rPr>
              <a:t>Africa caused 3% of climate change but pays the highest price — and pure clean-energy already failed us in last year's drought.</a:t>
            </a:r>
          </a:p>
          <a:p>
            <a:pPr>
              <a:spcBef>
                <a:spcPts val="1800"/>
              </a:spcBef>
            </a:pPr>
            <a:r>
              <a:rPr sz="1200"/>
              <a:t> </a:t>
            </a:r>
          </a:p>
          <a:p>
            <a:pPr algn="l"/>
            <a:r>
              <a:rPr sz="3400" b="1">
                <a:solidFill>
                  <a:srgbClr val="1F4E79"/>
                </a:solidFill>
                <a:latin typeface="Calibri"/>
              </a:rPr>
              <a:t>The honest path forward is a managed transition, not abandonment.</a:t>
            </a:r>
          </a:p>
        </p:txBody>
      </p:sp>
      <p:sp>
        <p:nvSpPr>
          <p:cNvPr id="4" name="TextBox 3"/>
          <p:cNvSpPr txBox="1"/>
          <p:nvPr/>
        </p:nvSpPr>
        <p:spPr>
          <a:xfrm>
            <a:off x="1097280" y="1188720"/>
            <a:ext cx="2743200" cy="365760"/>
          </a:xfrm>
          <a:prstGeom prst="rect">
            <a:avLst/>
          </a:prstGeom>
          <a:noFill/>
        </p:spPr>
        <p:txBody>
          <a:bodyPr wrap="square" lIns="0" rIns="0" tIns="0" bIns="0" anchor="t">
            <a:spAutoFit/>
          </a:bodyPr>
          <a:lstStyle/>
          <a:p>
            <a:pPr algn="l"/>
            <a:r>
              <a:rPr sz="1100" b="1">
                <a:solidFill>
                  <a:srgbClr val="1F4E79"/>
                </a:solidFill>
                <a:latin typeface="Calibri"/>
              </a:rPr>
              <a:t>THE BIG IDEA</a:t>
            </a:r>
          </a:p>
        </p:txBody>
      </p:sp>
      <p:sp>
        <p:nvSpPr>
          <p:cNvPr id="5" name="TextBox 4"/>
          <p:cNvSpPr txBox="1"/>
          <p:nvPr/>
        </p:nvSpPr>
        <p:spPr>
          <a:xfrm>
            <a:off x="457200" y="6446520"/>
            <a:ext cx="7315200" cy="274320"/>
          </a:xfrm>
          <a:prstGeom prst="rect">
            <a:avLst/>
          </a:prstGeom>
          <a:noFill/>
        </p:spPr>
        <p:txBody>
          <a:bodyPr wrap="square" lIns="0" rIns="0" tIns="0" bIns="0" anchor="t">
            <a:spAutoFit/>
          </a:bodyPr>
          <a:lstStyle/>
          <a:p>
            <a:pPr algn="l"/>
            <a:r>
              <a:rPr sz="900" b="0">
                <a:solidFill>
                  <a:srgbClr val="9CA3AF"/>
                </a:solidFill>
                <a:latin typeface="Calibri"/>
              </a:rPr>
              <a:t>Choolwe  •  The Case For Fossil Fuels  •  Follow-up to “How Climate Change Affects the World We Live In”</a:t>
            </a:r>
          </a:p>
        </p:txBody>
      </p:sp>
      <p:sp>
        <p:nvSpPr>
          <p:cNvPr id="6" name="TextBox 5"/>
          <p:cNvSpPr txBox="1"/>
          <p:nvPr/>
        </p:nvSpPr>
        <p:spPr>
          <a:xfrm>
            <a:off x="10972800" y="6446520"/>
            <a:ext cx="914400" cy="274320"/>
          </a:xfrm>
          <a:prstGeom prst="rect">
            <a:avLst/>
          </a:prstGeom>
          <a:noFill/>
        </p:spPr>
        <p:txBody>
          <a:bodyPr wrap="square" lIns="0" rIns="0" tIns="0" bIns="0" anchor="t">
            <a:spAutoFit/>
          </a:bodyPr>
          <a:lstStyle/>
          <a:p>
            <a:pPr algn="r"/>
            <a:r>
              <a:rPr sz="900" b="0">
                <a:solidFill>
                  <a:srgbClr val="9CA3AF"/>
                </a:solidFill>
                <a:latin typeface="Calibri"/>
              </a:rPr>
              <a:t>2 / 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1064240" cy="1097280"/>
          </a:xfrm>
          <a:prstGeom prst="rect">
            <a:avLst/>
          </a:prstGeom>
          <a:noFill/>
        </p:spPr>
        <p:txBody>
          <a:bodyPr wrap="square" lIns="0" rIns="0" tIns="0" bIns="0" anchor="t">
            <a:spAutoFit/>
          </a:bodyPr>
          <a:lstStyle/>
          <a:p>
            <a:pPr algn="l"/>
            <a:r>
              <a:rPr sz="2200" b="1">
                <a:solidFill>
                  <a:srgbClr val="1F2937"/>
                </a:solidFill>
                <a:latin typeface="Calibri"/>
              </a:rPr>
              <a:t>Last week, the case I made was: fossil fuels drive climate change, climate change kills, therefore cut fossil fuels.</a:t>
            </a:r>
          </a:p>
        </p:txBody>
      </p:sp>
      <p:sp>
        <p:nvSpPr>
          <p:cNvPr id="4" name="Rectangle 3"/>
          <p:cNvSpPr/>
          <p:nvPr/>
        </p:nvSpPr>
        <p:spPr>
          <a:xfrm>
            <a:off x="548640" y="2194560"/>
            <a:ext cx="3520440" cy="2743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2194560"/>
            <a:ext cx="3520440" cy="73152"/>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468880"/>
            <a:ext cx="3063240" cy="914400"/>
          </a:xfrm>
          <a:prstGeom prst="rect">
            <a:avLst/>
          </a:prstGeom>
          <a:noFill/>
        </p:spPr>
        <p:txBody>
          <a:bodyPr wrap="square" lIns="0" rIns="0" tIns="0" bIns="0" anchor="t">
            <a:spAutoFit/>
          </a:bodyPr>
          <a:lstStyle/>
          <a:p>
            <a:pPr algn="l"/>
            <a:r>
              <a:rPr sz="1600" b="1">
                <a:solidFill>
                  <a:srgbClr val="1F2937"/>
                </a:solidFill>
                <a:latin typeface="Calibri"/>
              </a:rPr>
              <a:t>CO₂ at record highs</a:t>
            </a:r>
          </a:p>
        </p:txBody>
      </p:sp>
      <p:sp>
        <p:nvSpPr>
          <p:cNvPr id="7" name="TextBox 6"/>
          <p:cNvSpPr txBox="1"/>
          <p:nvPr/>
        </p:nvSpPr>
        <p:spPr>
          <a:xfrm>
            <a:off x="777240" y="3566160"/>
            <a:ext cx="3063240" cy="1371600"/>
          </a:xfrm>
          <a:prstGeom prst="rect">
            <a:avLst/>
          </a:prstGeom>
          <a:noFill/>
        </p:spPr>
        <p:txBody>
          <a:bodyPr wrap="square" lIns="0" rIns="0" tIns="0" bIns="0" anchor="t">
            <a:spAutoFit/>
          </a:bodyPr>
          <a:lstStyle/>
          <a:p>
            <a:pPr algn="l"/>
            <a:r>
              <a:rPr sz="1200" b="0">
                <a:solidFill>
                  <a:srgbClr val="4B5563"/>
                </a:solidFill>
                <a:latin typeface="Calibri"/>
              </a:rPr>
              <a:t>Fossil fuels = ~90% of human CO₂ emissions.</a:t>
            </a:r>
          </a:p>
        </p:txBody>
      </p:sp>
      <p:sp>
        <p:nvSpPr>
          <p:cNvPr id="8" name="Rectangle 7"/>
          <p:cNvSpPr/>
          <p:nvPr/>
        </p:nvSpPr>
        <p:spPr>
          <a:xfrm>
            <a:off x="4343400" y="2194560"/>
            <a:ext cx="3520440" cy="2743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43400" y="2194560"/>
            <a:ext cx="3520440" cy="73152"/>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2468880"/>
            <a:ext cx="3063240" cy="914400"/>
          </a:xfrm>
          <a:prstGeom prst="rect">
            <a:avLst/>
          </a:prstGeom>
          <a:noFill/>
        </p:spPr>
        <p:txBody>
          <a:bodyPr wrap="square" lIns="0" rIns="0" tIns="0" bIns="0" anchor="t">
            <a:spAutoFit/>
          </a:bodyPr>
          <a:lstStyle/>
          <a:p>
            <a:pPr algn="l"/>
            <a:r>
              <a:rPr sz="1600" b="1">
                <a:solidFill>
                  <a:srgbClr val="1F2937"/>
                </a:solidFill>
                <a:latin typeface="Calibri"/>
              </a:rPr>
              <a:t>Temperature, sea level,
and disasters all rising</a:t>
            </a:r>
          </a:p>
        </p:txBody>
      </p:sp>
      <p:sp>
        <p:nvSpPr>
          <p:cNvPr id="11" name="TextBox 10"/>
          <p:cNvSpPr txBox="1"/>
          <p:nvPr/>
        </p:nvSpPr>
        <p:spPr>
          <a:xfrm>
            <a:off x="4572000" y="3566160"/>
            <a:ext cx="3063240" cy="1371600"/>
          </a:xfrm>
          <a:prstGeom prst="rect">
            <a:avLst/>
          </a:prstGeom>
          <a:noFill/>
        </p:spPr>
        <p:txBody>
          <a:bodyPr wrap="square" lIns="0" rIns="0" tIns="0" bIns="0" anchor="t">
            <a:spAutoFit/>
          </a:bodyPr>
          <a:lstStyle/>
          <a:p>
            <a:pPr algn="l"/>
            <a:r>
              <a:rPr sz="1200" b="0">
                <a:solidFill>
                  <a:srgbClr val="4B5563"/>
                </a:solidFill>
                <a:latin typeface="Calibri"/>
              </a:rPr>
              <a:t>98% chance one of the next five years
will be the warmest on record.</a:t>
            </a:r>
          </a:p>
        </p:txBody>
      </p:sp>
      <p:sp>
        <p:nvSpPr>
          <p:cNvPr id="12" name="Rectangle 11"/>
          <p:cNvSpPr/>
          <p:nvPr/>
        </p:nvSpPr>
        <p:spPr>
          <a:xfrm>
            <a:off x="8138160" y="2194560"/>
            <a:ext cx="3520440" cy="274320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38160" y="2194560"/>
            <a:ext cx="3520440" cy="73152"/>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66760" y="2468880"/>
            <a:ext cx="3063240" cy="914400"/>
          </a:xfrm>
          <a:prstGeom prst="rect">
            <a:avLst/>
          </a:prstGeom>
          <a:noFill/>
        </p:spPr>
        <p:txBody>
          <a:bodyPr wrap="square" lIns="0" rIns="0" tIns="0" bIns="0" anchor="t">
            <a:spAutoFit/>
          </a:bodyPr>
          <a:lstStyle/>
          <a:p>
            <a:pPr algn="l"/>
            <a:r>
              <a:rPr sz="1600" b="1">
                <a:solidFill>
                  <a:srgbClr val="1F2937"/>
                </a:solidFill>
                <a:latin typeface="Calibri"/>
              </a:rPr>
              <a:t>Original conclusion</a:t>
            </a:r>
          </a:p>
        </p:txBody>
      </p:sp>
      <p:sp>
        <p:nvSpPr>
          <p:cNvPr id="15" name="TextBox 14"/>
          <p:cNvSpPr txBox="1"/>
          <p:nvPr/>
        </p:nvSpPr>
        <p:spPr>
          <a:xfrm>
            <a:off x="8366760" y="3566160"/>
            <a:ext cx="3063240" cy="1371600"/>
          </a:xfrm>
          <a:prstGeom prst="rect">
            <a:avLst/>
          </a:prstGeom>
          <a:noFill/>
        </p:spPr>
        <p:txBody>
          <a:bodyPr wrap="square" lIns="0" rIns="0" tIns="0" bIns="0" anchor="t">
            <a:spAutoFit/>
          </a:bodyPr>
          <a:lstStyle/>
          <a:p>
            <a:pPr algn="l"/>
            <a:r>
              <a:rPr sz="1200" b="0">
                <a:solidFill>
                  <a:srgbClr val="4B5563"/>
                </a:solidFill>
                <a:latin typeface="Calibri"/>
              </a:rPr>
              <a:t>Reduce emissions and restore forests.</a:t>
            </a:r>
          </a:p>
        </p:txBody>
      </p:sp>
      <p:sp>
        <p:nvSpPr>
          <p:cNvPr id="16" name="TextBox 15"/>
          <p:cNvSpPr txBox="1"/>
          <p:nvPr/>
        </p:nvSpPr>
        <p:spPr>
          <a:xfrm>
            <a:off x="548640" y="5303520"/>
            <a:ext cx="10972800" cy="365760"/>
          </a:xfrm>
          <a:prstGeom prst="rect">
            <a:avLst/>
          </a:prstGeom>
          <a:noFill/>
        </p:spPr>
        <p:txBody>
          <a:bodyPr wrap="square" lIns="0" rIns="0" tIns="0" bIns="0" anchor="t">
            <a:spAutoFit/>
          </a:bodyPr>
          <a:lstStyle/>
          <a:p>
            <a:pPr algn="l"/>
            <a:r>
              <a:rPr sz="1300" b="0">
                <a:solidFill>
                  <a:srgbClr val="4B5563"/>
                </a:solidFill>
                <a:latin typeface="Calibri"/>
              </a:rPr>
              <a:t>I stand by the data. What follows is what that deck didn’t show.</a:t>
            </a:r>
          </a:p>
        </p:txBody>
      </p:sp>
      <p:sp>
        <p:nvSpPr>
          <p:cNvPr id="17" name="TextBox 16"/>
          <p:cNvSpPr txBox="1"/>
          <p:nvPr/>
        </p:nvSpPr>
        <p:spPr>
          <a:xfrm>
            <a:off x="457200" y="6446520"/>
            <a:ext cx="7315200" cy="274320"/>
          </a:xfrm>
          <a:prstGeom prst="rect">
            <a:avLst/>
          </a:prstGeom>
          <a:noFill/>
        </p:spPr>
        <p:txBody>
          <a:bodyPr wrap="square" lIns="0" rIns="0" tIns="0" bIns="0" anchor="t">
            <a:spAutoFit/>
          </a:bodyPr>
          <a:lstStyle/>
          <a:p>
            <a:pPr algn="l"/>
            <a:r>
              <a:rPr sz="900" b="0">
                <a:solidFill>
                  <a:srgbClr val="9CA3AF"/>
                </a:solidFill>
                <a:latin typeface="Calibri"/>
              </a:rPr>
              <a:t>Choolwe  •  The Case For Fossil Fuels  •  Follow-up to “How Climate Change Affects the World We Live In”</a:t>
            </a:r>
          </a:p>
        </p:txBody>
      </p:sp>
      <p:sp>
        <p:nvSpPr>
          <p:cNvPr id="18" name="TextBox 17"/>
          <p:cNvSpPr txBox="1"/>
          <p:nvPr/>
        </p:nvSpPr>
        <p:spPr>
          <a:xfrm>
            <a:off x="10972800" y="6446520"/>
            <a:ext cx="914400" cy="274320"/>
          </a:xfrm>
          <a:prstGeom prst="rect">
            <a:avLst/>
          </a:prstGeom>
          <a:noFill/>
        </p:spPr>
        <p:txBody>
          <a:bodyPr wrap="square" lIns="0" rIns="0" tIns="0" bIns="0" anchor="t">
            <a:spAutoFit/>
          </a:bodyPr>
          <a:lstStyle/>
          <a:p>
            <a:pPr algn="r"/>
            <a:r>
              <a:rPr sz="900" b="0">
                <a:solidFill>
                  <a:srgbClr val="9CA3AF"/>
                </a:solidFill>
                <a:latin typeface="Calibri"/>
              </a:rPr>
              <a:t>3 / 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1064240" cy="1188720"/>
          </a:xfrm>
          <a:prstGeom prst="rect">
            <a:avLst/>
          </a:prstGeom>
          <a:noFill/>
        </p:spPr>
        <p:txBody>
          <a:bodyPr wrap="square" lIns="0" rIns="0" tIns="0" bIns="0" anchor="t">
            <a:spAutoFit/>
          </a:bodyPr>
          <a:lstStyle/>
          <a:p>
            <a:pPr algn="l"/>
            <a:r>
              <a:rPr sz="2200" b="1">
                <a:solidFill>
                  <a:srgbClr val="1F2937"/>
                </a:solidFill>
                <a:latin typeface="Calibri"/>
              </a:rPr>
              <a:t>Cooking smoke from biomass kills ~3.2 million people every year — most in homes that lack access to clean fuel.</a:t>
            </a:r>
          </a:p>
        </p:txBody>
      </p:sp>
      <p:pic>
        <p:nvPicPr>
          <p:cNvPr id="4" name="Picture 3" descr="deaths_per_year.png"/>
          <p:cNvPicPr>
            <a:picLocks noChangeAspect="1"/>
          </p:cNvPicPr>
          <p:nvPr/>
        </p:nvPicPr>
        <p:blipFill>
          <a:blip r:embed="rId2"/>
          <a:stretch>
            <a:fillRect/>
          </a:stretch>
        </p:blipFill>
        <p:spPr>
          <a:xfrm>
            <a:off x="548640" y="1737360"/>
            <a:ext cx="8229600" cy="4172045"/>
          </a:xfrm>
          <a:prstGeom prst="rect">
            <a:avLst/>
          </a:prstGeom>
        </p:spPr>
      </p:pic>
      <p:sp>
        <p:nvSpPr>
          <p:cNvPr id="5" name="TextBox 4"/>
          <p:cNvSpPr txBox="1"/>
          <p:nvPr/>
        </p:nvSpPr>
        <p:spPr>
          <a:xfrm>
            <a:off x="9144000" y="2103120"/>
            <a:ext cx="2743200" cy="457200"/>
          </a:xfrm>
          <a:prstGeom prst="rect">
            <a:avLst/>
          </a:prstGeom>
          <a:noFill/>
        </p:spPr>
        <p:txBody>
          <a:bodyPr wrap="square" lIns="0" rIns="0" tIns="0" bIns="0" anchor="t">
            <a:spAutoFit/>
          </a:bodyPr>
          <a:lstStyle/>
          <a:p>
            <a:pPr algn="l"/>
            <a:r>
              <a:rPr sz="1300" b="0">
                <a:solidFill>
                  <a:srgbClr val="4B5563"/>
                </a:solidFill>
                <a:latin typeface="Calibri"/>
              </a:rPr>
              <a:t>What my first deck
left out:</a:t>
            </a:r>
          </a:p>
        </p:txBody>
      </p:sp>
      <p:sp>
        <p:nvSpPr>
          <p:cNvPr id="6" name="TextBox 5"/>
          <p:cNvSpPr txBox="1"/>
          <p:nvPr/>
        </p:nvSpPr>
        <p:spPr>
          <a:xfrm>
            <a:off x="9144000" y="2926080"/>
            <a:ext cx="2743200" cy="2286000"/>
          </a:xfrm>
          <a:prstGeom prst="rect">
            <a:avLst/>
          </a:prstGeom>
          <a:noFill/>
        </p:spPr>
        <p:txBody>
          <a:bodyPr wrap="square" lIns="0" rIns="0" tIns="0" bIns="0" anchor="t">
            <a:spAutoFit/>
          </a:bodyPr>
          <a:lstStyle/>
          <a:p>
            <a:pPr algn="l"/>
            <a:r>
              <a:rPr sz="1400" b="0">
                <a:solidFill>
                  <a:srgbClr val="1F2937"/>
                </a:solidFill>
                <a:latin typeface="Calibri"/>
              </a:rPr>
              <a:t>Energy poverty has a body count — today, not tomorrow.
Of those 3.2M deaths, ~815,000 are in sub-Saharan Africa.</a:t>
            </a:r>
          </a:p>
        </p:txBody>
      </p:sp>
      <p:sp>
        <p:nvSpPr>
          <p:cNvPr id="7" name="TextBox 6"/>
          <p:cNvSpPr txBox="1"/>
          <p:nvPr/>
        </p:nvSpPr>
        <p:spPr>
          <a:xfrm>
            <a:off x="548640" y="6035040"/>
            <a:ext cx="10972800" cy="274320"/>
          </a:xfrm>
          <a:prstGeom prst="rect">
            <a:avLst/>
          </a:prstGeom>
          <a:noFill/>
        </p:spPr>
        <p:txBody>
          <a:bodyPr wrap="square" lIns="0" rIns="0" tIns="0" bIns="0" anchor="t">
            <a:spAutoFit/>
          </a:bodyPr>
          <a:lstStyle/>
          <a:p>
            <a:pPr algn="l"/>
            <a:r>
              <a:rPr sz="900" b="0">
                <a:solidFill>
                  <a:srgbClr val="9CA3AF"/>
                </a:solidFill>
                <a:latin typeface="Calibri"/>
              </a:rPr>
              <a:t>Sources: WHO Household Air Pollution Fact Sheet; WHO Ambient Air Pollution; WHO World Malaria Report.</a:t>
            </a:r>
          </a:p>
        </p:txBody>
      </p:sp>
      <p:sp>
        <p:nvSpPr>
          <p:cNvPr id="8" name="TextBox 7"/>
          <p:cNvSpPr txBox="1"/>
          <p:nvPr/>
        </p:nvSpPr>
        <p:spPr>
          <a:xfrm>
            <a:off x="457200" y="6446520"/>
            <a:ext cx="7315200" cy="274320"/>
          </a:xfrm>
          <a:prstGeom prst="rect">
            <a:avLst/>
          </a:prstGeom>
          <a:noFill/>
        </p:spPr>
        <p:txBody>
          <a:bodyPr wrap="square" lIns="0" rIns="0" tIns="0" bIns="0" anchor="t">
            <a:spAutoFit/>
          </a:bodyPr>
          <a:lstStyle/>
          <a:p>
            <a:pPr algn="l"/>
            <a:r>
              <a:rPr sz="900" b="0">
                <a:solidFill>
                  <a:srgbClr val="9CA3AF"/>
                </a:solidFill>
                <a:latin typeface="Calibri"/>
              </a:rPr>
              <a:t>Choolwe  •  The Case For Fossil Fuels  •  Follow-up to “How Climate Change Affects the World We Live In”</a:t>
            </a:r>
          </a:p>
        </p:txBody>
      </p:sp>
      <p:sp>
        <p:nvSpPr>
          <p:cNvPr id="9" name="TextBox 8"/>
          <p:cNvSpPr txBox="1"/>
          <p:nvPr/>
        </p:nvSpPr>
        <p:spPr>
          <a:xfrm>
            <a:off x="10972800" y="6446520"/>
            <a:ext cx="914400" cy="274320"/>
          </a:xfrm>
          <a:prstGeom prst="rect">
            <a:avLst/>
          </a:prstGeom>
          <a:noFill/>
        </p:spPr>
        <p:txBody>
          <a:bodyPr wrap="square" lIns="0" rIns="0" tIns="0" bIns="0" anchor="t">
            <a:spAutoFit/>
          </a:bodyPr>
          <a:lstStyle/>
          <a:p>
            <a:pPr algn="r"/>
            <a:r>
              <a:rPr sz="900" b="0">
                <a:solidFill>
                  <a:srgbClr val="9CA3AF"/>
                </a:solidFill>
                <a:latin typeface="Calibri"/>
              </a:rPr>
              <a:t>4 / 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1064240" cy="1188720"/>
          </a:xfrm>
          <a:prstGeom prst="rect">
            <a:avLst/>
          </a:prstGeom>
          <a:noFill/>
        </p:spPr>
        <p:txBody>
          <a:bodyPr wrap="square" lIns="0" rIns="0" tIns="0" bIns="0" anchor="t">
            <a:spAutoFit/>
          </a:bodyPr>
          <a:lstStyle/>
          <a:p>
            <a:pPr algn="l"/>
            <a:r>
              <a:rPr sz="2000" b="1">
                <a:solidFill>
                  <a:srgbClr val="1F2937"/>
                </a:solidFill>
                <a:latin typeface="Calibri"/>
              </a:rPr>
              <a:t>Africa hosts 17% of the world’s people, caused under 3% of cumulative emissions — and is being asked to skip the ladder every wealthy country climbed.</a:t>
            </a:r>
          </a:p>
        </p:txBody>
      </p:sp>
      <p:pic>
        <p:nvPicPr>
          <p:cNvPr id="4" name="Picture 3" descr="africa_asymmetry.png"/>
          <p:cNvPicPr>
            <a:picLocks noChangeAspect="1"/>
          </p:cNvPicPr>
          <p:nvPr/>
        </p:nvPicPr>
        <p:blipFill>
          <a:blip r:embed="rId2"/>
          <a:stretch>
            <a:fillRect/>
          </a:stretch>
        </p:blipFill>
        <p:spPr>
          <a:xfrm>
            <a:off x="548640" y="1828800"/>
            <a:ext cx="6858000" cy="4618434"/>
          </a:xfrm>
          <a:prstGeom prst="rect">
            <a:avLst/>
          </a:prstGeom>
        </p:spPr>
      </p:pic>
      <p:sp>
        <p:nvSpPr>
          <p:cNvPr id="5" name="TextBox 4"/>
          <p:cNvSpPr txBox="1"/>
          <p:nvPr/>
        </p:nvSpPr>
        <p:spPr>
          <a:xfrm>
            <a:off x="7863840" y="2103120"/>
            <a:ext cx="4023360" cy="457200"/>
          </a:xfrm>
          <a:prstGeom prst="rect">
            <a:avLst/>
          </a:prstGeom>
          <a:noFill/>
        </p:spPr>
        <p:txBody>
          <a:bodyPr wrap="square" lIns="0" rIns="0" tIns="0" bIns="0" anchor="t">
            <a:spAutoFit/>
          </a:bodyPr>
          <a:lstStyle/>
          <a:p>
            <a:pPr algn="l"/>
            <a:r>
              <a:rPr sz="1400" b="1">
                <a:solidFill>
                  <a:srgbClr val="1F4E79"/>
                </a:solidFill>
                <a:latin typeface="Calibri"/>
              </a:rPr>
              <a:t>The asymmetry:</a:t>
            </a:r>
          </a:p>
        </p:txBody>
      </p:sp>
      <p:sp>
        <p:nvSpPr>
          <p:cNvPr id="6" name="TextBox 5"/>
          <p:cNvSpPr txBox="1"/>
          <p:nvPr/>
        </p:nvSpPr>
        <p:spPr>
          <a:xfrm>
            <a:off x="7863840" y="2651760"/>
            <a:ext cx="4023360" cy="3200400"/>
          </a:xfrm>
          <a:prstGeom prst="rect">
            <a:avLst/>
          </a:prstGeom>
          <a:noFill/>
        </p:spPr>
        <p:txBody>
          <a:bodyPr wrap="square" lIns="0" rIns="0" tIns="0" bIns="0" anchor="t">
            <a:spAutoFit/>
          </a:bodyPr>
          <a:lstStyle/>
          <a:p>
            <a:pPr algn="l"/>
            <a:r>
              <a:rPr sz="1300" b="0">
                <a:solidFill>
                  <a:srgbClr val="4B5563"/>
                </a:solidFill>
                <a:latin typeface="Calibri"/>
              </a:rPr>
              <a:t>Every wealthy country got rich by burning coal, then oil, then gas.
The clean-energy supply chain itself — steel, cement, shipping — still runs on fossil fuels.
Asking Africa to skip the ladder, today, means asking it to stay poor.</a:t>
            </a:r>
          </a:p>
        </p:txBody>
      </p:sp>
      <p:sp>
        <p:nvSpPr>
          <p:cNvPr id="7" name="TextBox 6"/>
          <p:cNvSpPr txBox="1"/>
          <p:nvPr/>
        </p:nvSpPr>
        <p:spPr>
          <a:xfrm>
            <a:off x="548640" y="6035040"/>
            <a:ext cx="10972800" cy="274320"/>
          </a:xfrm>
          <a:prstGeom prst="rect">
            <a:avLst/>
          </a:prstGeom>
          <a:noFill/>
        </p:spPr>
        <p:txBody>
          <a:bodyPr wrap="square" lIns="0" rIns="0" tIns="0" bIns="0" anchor="t">
            <a:spAutoFit/>
          </a:bodyPr>
          <a:lstStyle/>
          <a:p>
            <a:pPr algn="l"/>
            <a:r>
              <a:rPr sz="900" b="0">
                <a:solidFill>
                  <a:srgbClr val="9CA3AF"/>
                </a:solidFill>
                <a:latin typeface="Calibri"/>
              </a:rPr>
              <a:t>Sources: UN World Population Prospects; Our World in Data / Energy for Growth Hub.</a:t>
            </a:r>
          </a:p>
        </p:txBody>
      </p:sp>
      <p:sp>
        <p:nvSpPr>
          <p:cNvPr id="8" name="TextBox 7"/>
          <p:cNvSpPr txBox="1"/>
          <p:nvPr/>
        </p:nvSpPr>
        <p:spPr>
          <a:xfrm>
            <a:off x="457200" y="6446520"/>
            <a:ext cx="7315200" cy="274320"/>
          </a:xfrm>
          <a:prstGeom prst="rect">
            <a:avLst/>
          </a:prstGeom>
          <a:noFill/>
        </p:spPr>
        <p:txBody>
          <a:bodyPr wrap="square" lIns="0" rIns="0" tIns="0" bIns="0" anchor="t">
            <a:spAutoFit/>
          </a:bodyPr>
          <a:lstStyle/>
          <a:p>
            <a:pPr algn="l"/>
            <a:r>
              <a:rPr sz="900" b="0">
                <a:solidFill>
                  <a:srgbClr val="9CA3AF"/>
                </a:solidFill>
                <a:latin typeface="Calibri"/>
              </a:rPr>
              <a:t>Choolwe  •  The Case For Fossil Fuels  •  Follow-up to “How Climate Change Affects the World We Live In”</a:t>
            </a:r>
          </a:p>
        </p:txBody>
      </p:sp>
      <p:sp>
        <p:nvSpPr>
          <p:cNvPr id="9" name="TextBox 8"/>
          <p:cNvSpPr txBox="1"/>
          <p:nvPr/>
        </p:nvSpPr>
        <p:spPr>
          <a:xfrm>
            <a:off x="10972800" y="6446520"/>
            <a:ext cx="914400" cy="274320"/>
          </a:xfrm>
          <a:prstGeom prst="rect">
            <a:avLst/>
          </a:prstGeom>
          <a:noFill/>
        </p:spPr>
        <p:txBody>
          <a:bodyPr wrap="square" lIns="0" rIns="0" tIns="0" bIns="0" anchor="t">
            <a:spAutoFit/>
          </a:bodyPr>
          <a:lstStyle/>
          <a:p>
            <a:pPr algn="r"/>
            <a:r>
              <a:rPr sz="900" b="0">
                <a:solidFill>
                  <a:srgbClr val="9CA3AF"/>
                </a:solidFill>
                <a:latin typeface="Calibri"/>
              </a:rPr>
              <a:t>5 /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1064240" cy="1188720"/>
          </a:xfrm>
          <a:prstGeom prst="rect">
            <a:avLst/>
          </a:prstGeom>
          <a:noFill/>
        </p:spPr>
        <p:txBody>
          <a:bodyPr wrap="square" lIns="0" rIns="0" tIns="0" bIns="0" anchor="t">
            <a:spAutoFit/>
          </a:bodyPr>
          <a:lstStyle/>
          <a:p>
            <a:pPr algn="l"/>
            <a:r>
              <a:rPr sz="2100" b="1">
                <a:solidFill>
                  <a:srgbClr val="1F2937"/>
                </a:solidFill>
                <a:latin typeface="Calibri"/>
              </a:rPr>
              <a:t>Zambia bet 85% of its grid on “clean” hydropower — and a climate-driven drought left us in the dark for 21 hours a day.</a:t>
            </a:r>
          </a:p>
        </p:txBody>
      </p:sp>
      <p:pic>
        <p:nvPicPr>
          <p:cNvPr id="4" name="Picture 3" descr="zambia_mix.png"/>
          <p:cNvPicPr>
            <a:picLocks noChangeAspect="1"/>
          </p:cNvPicPr>
          <p:nvPr/>
        </p:nvPicPr>
        <p:blipFill>
          <a:blip r:embed="rId2"/>
          <a:stretch>
            <a:fillRect/>
          </a:stretch>
        </p:blipFill>
        <p:spPr>
          <a:xfrm>
            <a:off x="548640" y="1737360"/>
            <a:ext cx="8229600" cy="5008600"/>
          </a:xfrm>
          <a:prstGeom prst="rect">
            <a:avLst/>
          </a:prstGeom>
        </p:spPr>
      </p:pic>
      <p:sp>
        <p:nvSpPr>
          <p:cNvPr id="5" name="TextBox 4"/>
          <p:cNvSpPr txBox="1"/>
          <p:nvPr/>
        </p:nvSpPr>
        <p:spPr>
          <a:xfrm>
            <a:off x="9144000" y="2103120"/>
            <a:ext cx="2743200" cy="457200"/>
          </a:xfrm>
          <a:prstGeom prst="rect">
            <a:avLst/>
          </a:prstGeom>
          <a:noFill/>
        </p:spPr>
        <p:txBody>
          <a:bodyPr wrap="square" lIns="0" rIns="0" tIns="0" bIns="0" anchor="t">
            <a:spAutoFit/>
          </a:bodyPr>
          <a:lstStyle/>
          <a:p>
            <a:pPr algn="l"/>
            <a:r>
              <a:rPr sz="1400" b="1">
                <a:solidFill>
                  <a:srgbClr val="1F4E79"/>
                </a:solidFill>
                <a:latin typeface="Calibri"/>
              </a:rPr>
              <a:t>The lesson:</a:t>
            </a:r>
          </a:p>
        </p:txBody>
      </p:sp>
      <p:sp>
        <p:nvSpPr>
          <p:cNvPr id="6" name="TextBox 5"/>
          <p:cNvSpPr txBox="1"/>
          <p:nvPr/>
        </p:nvSpPr>
        <p:spPr>
          <a:xfrm>
            <a:off x="9144000" y="2651760"/>
            <a:ext cx="2743200" cy="2743200"/>
          </a:xfrm>
          <a:prstGeom prst="rect">
            <a:avLst/>
          </a:prstGeom>
          <a:noFill/>
        </p:spPr>
        <p:txBody>
          <a:bodyPr wrap="square" lIns="0" rIns="0" tIns="0" bIns="0" anchor="t">
            <a:spAutoFit/>
          </a:bodyPr>
          <a:lstStyle/>
          <a:p>
            <a:pPr algn="l"/>
            <a:r>
              <a:rPr sz="1300" b="0">
                <a:solidFill>
                  <a:srgbClr val="4B5563"/>
                </a:solidFill>
                <a:latin typeface="Calibri"/>
              </a:rPr>
              <a:t>Not “burn more coal.”
Firm, dispatchable power matters — and pretending otherwise is paid for in dark hospitals and broken cold-chains.</a:t>
            </a:r>
          </a:p>
        </p:txBody>
      </p:sp>
      <p:sp>
        <p:nvSpPr>
          <p:cNvPr id="7" name="TextBox 6"/>
          <p:cNvSpPr txBox="1"/>
          <p:nvPr/>
        </p:nvSpPr>
        <p:spPr>
          <a:xfrm>
            <a:off x="457200" y="6446520"/>
            <a:ext cx="7315200" cy="274320"/>
          </a:xfrm>
          <a:prstGeom prst="rect">
            <a:avLst/>
          </a:prstGeom>
          <a:noFill/>
        </p:spPr>
        <p:txBody>
          <a:bodyPr wrap="square" lIns="0" rIns="0" tIns="0" bIns="0" anchor="t">
            <a:spAutoFit/>
          </a:bodyPr>
          <a:lstStyle/>
          <a:p>
            <a:pPr algn="l"/>
            <a:r>
              <a:rPr sz="900" b="0">
                <a:solidFill>
                  <a:srgbClr val="9CA3AF"/>
                </a:solidFill>
                <a:latin typeface="Calibri"/>
              </a:rPr>
              <a:t>Choolwe  •  The Case For Fossil Fuels  •  Follow-up to “How Climate Change Affects the World We Live In”</a:t>
            </a:r>
          </a:p>
        </p:txBody>
      </p:sp>
      <p:sp>
        <p:nvSpPr>
          <p:cNvPr id="8" name="TextBox 7"/>
          <p:cNvSpPr txBox="1"/>
          <p:nvPr/>
        </p:nvSpPr>
        <p:spPr>
          <a:xfrm>
            <a:off x="10972800" y="6446520"/>
            <a:ext cx="914400" cy="274320"/>
          </a:xfrm>
          <a:prstGeom prst="rect">
            <a:avLst/>
          </a:prstGeom>
          <a:noFill/>
        </p:spPr>
        <p:txBody>
          <a:bodyPr wrap="square" lIns="0" rIns="0" tIns="0" bIns="0" anchor="t">
            <a:spAutoFit/>
          </a:bodyPr>
          <a:lstStyle/>
          <a:p>
            <a:pPr algn="r"/>
            <a:r>
              <a:rPr sz="900" b="0">
                <a:solidFill>
                  <a:srgbClr val="9CA3AF"/>
                </a:solidFill>
                <a:latin typeface="Calibri"/>
              </a:rPr>
              <a:t>6 / 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11064240" cy="1188720"/>
          </a:xfrm>
          <a:prstGeom prst="rect">
            <a:avLst/>
          </a:prstGeom>
          <a:noFill/>
        </p:spPr>
        <p:txBody>
          <a:bodyPr wrap="square" lIns="0" rIns="0" tIns="0" bIns="0" anchor="t">
            <a:spAutoFit/>
          </a:bodyPr>
          <a:lstStyle/>
          <a:p>
            <a:pPr algn="l"/>
            <a:r>
              <a:rPr sz="2000" b="1">
                <a:solidFill>
                  <a:srgbClr val="1F2937"/>
                </a:solidFill>
                <a:latin typeface="Calibri"/>
              </a:rPr>
              <a:t>The honest middle path: gas as a bridge, renewables stacked on top, firm power kept until storage can carry the load.</a:t>
            </a:r>
          </a:p>
        </p:txBody>
      </p:sp>
      <p:sp>
        <p:nvSpPr>
          <p:cNvPr id="4" name="Rectangle 3"/>
          <p:cNvSpPr/>
          <p:nvPr/>
        </p:nvSpPr>
        <p:spPr>
          <a:xfrm>
            <a:off x="548640" y="2194560"/>
            <a:ext cx="3474720" cy="301752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423160"/>
            <a:ext cx="2926080" cy="365760"/>
          </a:xfrm>
          <a:prstGeom prst="rect">
            <a:avLst/>
          </a:prstGeom>
          <a:noFill/>
        </p:spPr>
        <p:txBody>
          <a:bodyPr wrap="square" lIns="0" rIns="0" tIns="0" bIns="0" anchor="t">
            <a:spAutoFit/>
          </a:bodyPr>
          <a:lstStyle/>
          <a:p>
            <a:pPr algn="l"/>
            <a:r>
              <a:rPr sz="1100" b="1">
                <a:solidFill>
                  <a:srgbClr val="FFFFFF"/>
                </a:solidFill>
                <a:latin typeface="Calibri"/>
              </a:rPr>
              <a:t>NOW — BRIDGE</a:t>
            </a:r>
          </a:p>
        </p:txBody>
      </p:sp>
      <p:sp>
        <p:nvSpPr>
          <p:cNvPr id="6" name="TextBox 5"/>
          <p:cNvSpPr txBox="1"/>
          <p:nvPr/>
        </p:nvSpPr>
        <p:spPr>
          <a:xfrm>
            <a:off x="822960" y="2834640"/>
            <a:ext cx="2926080" cy="640080"/>
          </a:xfrm>
          <a:prstGeom prst="rect">
            <a:avLst/>
          </a:prstGeom>
          <a:noFill/>
        </p:spPr>
        <p:txBody>
          <a:bodyPr wrap="square" lIns="0" rIns="0" tIns="0" bIns="0" anchor="t">
            <a:spAutoFit/>
          </a:bodyPr>
          <a:lstStyle/>
          <a:p>
            <a:pPr algn="l"/>
            <a:r>
              <a:rPr sz="1800" b="1">
                <a:solidFill>
                  <a:srgbClr val="FFFFFF"/>
                </a:solidFill>
                <a:latin typeface="Calibri"/>
              </a:rPr>
              <a:t>Natural gas</a:t>
            </a:r>
          </a:p>
        </p:txBody>
      </p:sp>
      <p:sp>
        <p:nvSpPr>
          <p:cNvPr id="7" name="TextBox 6"/>
          <p:cNvSpPr txBox="1"/>
          <p:nvPr/>
        </p:nvSpPr>
        <p:spPr>
          <a:xfrm>
            <a:off x="822960" y="3566160"/>
            <a:ext cx="2926080" cy="1463040"/>
          </a:xfrm>
          <a:prstGeom prst="rect">
            <a:avLst/>
          </a:prstGeom>
          <a:noFill/>
        </p:spPr>
        <p:txBody>
          <a:bodyPr wrap="square" lIns="0" rIns="0" tIns="0" bIns="0" anchor="t">
            <a:spAutoFit/>
          </a:bodyPr>
          <a:lstStyle/>
          <a:p>
            <a:pPr algn="l"/>
            <a:r>
              <a:rPr sz="1200" b="0">
                <a:solidFill>
                  <a:srgbClr val="FFFFFF"/>
                </a:solidFill>
                <a:latin typeface="Calibri"/>
              </a:rPr>
              <a:t>50–60% less CO₂ than coal.
Africa holds ~13% of
proven gas reserves.
Faster to deploy than
nuclear, firm in a way solar
alone is not.</a:t>
            </a:r>
          </a:p>
        </p:txBody>
      </p:sp>
      <p:sp>
        <p:nvSpPr>
          <p:cNvPr id="8" name="Rectangle 7"/>
          <p:cNvSpPr/>
          <p:nvPr/>
        </p:nvSpPr>
        <p:spPr>
          <a:xfrm>
            <a:off x="4343400" y="2194560"/>
            <a:ext cx="3474720" cy="301752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7720" y="2423160"/>
            <a:ext cx="2926080" cy="365760"/>
          </a:xfrm>
          <a:prstGeom prst="rect">
            <a:avLst/>
          </a:prstGeom>
          <a:noFill/>
        </p:spPr>
        <p:txBody>
          <a:bodyPr wrap="square" lIns="0" rIns="0" tIns="0" bIns="0" anchor="t">
            <a:spAutoFit/>
          </a:bodyPr>
          <a:lstStyle/>
          <a:p>
            <a:pPr algn="l"/>
            <a:r>
              <a:rPr sz="1100" b="1">
                <a:solidFill>
                  <a:srgbClr val="1F4E79"/>
                </a:solidFill>
                <a:latin typeface="Calibri"/>
              </a:rPr>
              <a:t>BUILD-OUT</a:t>
            </a:r>
          </a:p>
        </p:txBody>
      </p:sp>
      <p:sp>
        <p:nvSpPr>
          <p:cNvPr id="10" name="TextBox 9"/>
          <p:cNvSpPr txBox="1"/>
          <p:nvPr/>
        </p:nvSpPr>
        <p:spPr>
          <a:xfrm>
            <a:off x="4617720" y="2834640"/>
            <a:ext cx="2926080" cy="640080"/>
          </a:xfrm>
          <a:prstGeom prst="rect">
            <a:avLst/>
          </a:prstGeom>
          <a:noFill/>
        </p:spPr>
        <p:txBody>
          <a:bodyPr wrap="square" lIns="0" rIns="0" tIns="0" bIns="0" anchor="t">
            <a:spAutoFit/>
          </a:bodyPr>
          <a:lstStyle/>
          <a:p>
            <a:pPr algn="l"/>
            <a:r>
              <a:rPr sz="1800" b="1">
                <a:solidFill>
                  <a:srgbClr val="1F2937"/>
                </a:solidFill>
                <a:latin typeface="Calibri"/>
              </a:rPr>
              <a:t>Renewables, aggressively</a:t>
            </a:r>
          </a:p>
        </p:txBody>
      </p:sp>
      <p:sp>
        <p:nvSpPr>
          <p:cNvPr id="11" name="TextBox 10"/>
          <p:cNvSpPr txBox="1"/>
          <p:nvPr/>
        </p:nvSpPr>
        <p:spPr>
          <a:xfrm>
            <a:off x="4617720" y="3566160"/>
            <a:ext cx="2926080" cy="1463040"/>
          </a:xfrm>
          <a:prstGeom prst="rect">
            <a:avLst/>
          </a:prstGeom>
          <a:noFill/>
        </p:spPr>
        <p:txBody>
          <a:bodyPr wrap="square" lIns="0" rIns="0" tIns="0" bIns="0" anchor="t">
            <a:spAutoFit/>
          </a:bodyPr>
          <a:lstStyle/>
          <a:p>
            <a:pPr algn="l"/>
            <a:r>
              <a:rPr sz="1200" b="0">
                <a:solidFill>
                  <a:srgbClr val="4B5563"/>
                </a:solidFill>
                <a:latin typeface="Calibri"/>
              </a:rPr>
              <a:t>Solar in Zambia is already
the cheapest new capacity.
Wind, hydro diversification,
storage — scaled in parallel,
not waited for.</a:t>
            </a:r>
          </a:p>
        </p:txBody>
      </p:sp>
      <p:sp>
        <p:nvSpPr>
          <p:cNvPr id="12" name="Rectangle 11"/>
          <p:cNvSpPr/>
          <p:nvPr/>
        </p:nvSpPr>
        <p:spPr>
          <a:xfrm>
            <a:off x="8138160" y="2194560"/>
            <a:ext cx="3474720" cy="301752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423160"/>
            <a:ext cx="2926080" cy="365760"/>
          </a:xfrm>
          <a:prstGeom prst="rect">
            <a:avLst/>
          </a:prstGeom>
          <a:noFill/>
        </p:spPr>
        <p:txBody>
          <a:bodyPr wrap="square" lIns="0" rIns="0" tIns="0" bIns="0" anchor="t">
            <a:spAutoFit/>
          </a:bodyPr>
          <a:lstStyle/>
          <a:p>
            <a:pPr algn="l"/>
            <a:r>
              <a:rPr sz="1100" b="1">
                <a:solidFill>
                  <a:srgbClr val="1F4E79"/>
                </a:solidFill>
                <a:latin typeface="Calibri"/>
              </a:rPr>
              <a:t>THEN — RETIRE</a:t>
            </a:r>
          </a:p>
        </p:txBody>
      </p:sp>
      <p:sp>
        <p:nvSpPr>
          <p:cNvPr id="14" name="TextBox 13"/>
          <p:cNvSpPr txBox="1"/>
          <p:nvPr/>
        </p:nvSpPr>
        <p:spPr>
          <a:xfrm>
            <a:off x="8412480" y="2834640"/>
            <a:ext cx="2926080" cy="640080"/>
          </a:xfrm>
          <a:prstGeom prst="rect">
            <a:avLst/>
          </a:prstGeom>
          <a:noFill/>
        </p:spPr>
        <p:txBody>
          <a:bodyPr wrap="square" lIns="0" rIns="0" tIns="0" bIns="0" anchor="t">
            <a:spAutoFit/>
          </a:bodyPr>
          <a:lstStyle/>
          <a:p>
            <a:pPr algn="l"/>
            <a:r>
              <a:rPr sz="1800" b="1">
                <a:solidFill>
                  <a:srgbClr val="1F2937"/>
                </a:solidFill>
                <a:latin typeface="Calibri"/>
              </a:rPr>
              <a:t>Phase fossil fuels down</a:t>
            </a:r>
          </a:p>
        </p:txBody>
      </p:sp>
      <p:sp>
        <p:nvSpPr>
          <p:cNvPr id="15" name="TextBox 14"/>
          <p:cNvSpPr txBox="1"/>
          <p:nvPr/>
        </p:nvSpPr>
        <p:spPr>
          <a:xfrm>
            <a:off x="8412480" y="3566160"/>
            <a:ext cx="2926080" cy="1463040"/>
          </a:xfrm>
          <a:prstGeom prst="rect">
            <a:avLst/>
          </a:prstGeom>
          <a:noFill/>
        </p:spPr>
        <p:txBody>
          <a:bodyPr wrap="square" lIns="0" rIns="0" tIns="0" bIns="0" anchor="t">
            <a:spAutoFit/>
          </a:bodyPr>
          <a:lstStyle/>
          <a:p>
            <a:pPr algn="l"/>
            <a:r>
              <a:rPr sz="1200" b="0">
                <a:solidFill>
                  <a:srgbClr val="4B5563"/>
                </a:solidFill>
                <a:latin typeface="Calibri"/>
              </a:rPr>
              <a:t>When grids are firm and
storage can carry the load,
retire gas plants.
Not before. Not as a slogan.
As an engineering schedule.</a:t>
            </a:r>
          </a:p>
        </p:txBody>
      </p:sp>
      <p:sp>
        <p:nvSpPr>
          <p:cNvPr id="16" name="Right Arrow 15"/>
          <p:cNvSpPr/>
          <p:nvPr/>
        </p:nvSpPr>
        <p:spPr>
          <a:xfrm>
            <a:off x="4023360" y="3474720"/>
            <a:ext cx="320040" cy="411480"/>
          </a:xfrm>
          <a:prstGeom prst="rightArrow">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ight Arrow 16"/>
          <p:cNvSpPr/>
          <p:nvPr/>
        </p:nvSpPr>
        <p:spPr>
          <a:xfrm>
            <a:off x="7818120" y="3474720"/>
            <a:ext cx="320040" cy="411480"/>
          </a:xfrm>
          <a:prstGeom prst="rightArrow">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5852160"/>
            <a:ext cx="10972800" cy="274320"/>
          </a:xfrm>
          <a:prstGeom prst="rect">
            <a:avLst/>
          </a:prstGeom>
          <a:noFill/>
        </p:spPr>
        <p:txBody>
          <a:bodyPr wrap="square" lIns="0" rIns="0" tIns="0" bIns="0" anchor="t">
            <a:spAutoFit/>
          </a:bodyPr>
          <a:lstStyle/>
          <a:p>
            <a:pPr algn="l"/>
            <a:r>
              <a:rPr sz="900" b="0">
                <a:solidFill>
                  <a:srgbClr val="9CA3AF"/>
                </a:solidFill>
                <a:latin typeface="Calibri"/>
              </a:rPr>
              <a:t>Sources: Atlantic Council, “Natural gas in Africa’s energy transition”; IEA, “Financing Electricity Access in Africa” (2025).</a:t>
            </a:r>
          </a:p>
        </p:txBody>
      </p:sp>
      <p:sp>
        <p:nvSpPr>
          <p:cNvPr id="19" name="TextBox 18"/>
          <p:cNvSpPr txBox="1"/>
          <p:nvPr/>
        </p:nvSpPr>
        <p:spPr>
          <a:xfrm>
            <a:off x="457200" y="6446520"/>
            <a:ext cx="7315200" cy="274320"/>
          </a:xfrm>
          <a:prstGeom prst="rect">
            <a:avLst/>
          </a:prstGeom>
          <a:noFill/>
        </p:spPr>
        <p:txBody>
          <a:bodyPr wrap="square" lIns="0" rIns="0" tIns="0" bIns="0" anchor="t">
            <a:spAutoFit/>
          </a:bodyPr>
          <a:lstStyle/>
          <a:p>
            <a:pPr algn="l"/>
            <a:r>
              <a:rPr sz="900" b="0">
                <a:solidFill>
                  <a:srgbClr val="9CA3AF"/>
                </a:solidFill>
                <a:latin typeface="Calibri"/>
              </a:rPr>
              <a:t>Choolwe  •  The Case For Fossil Fuels  •  Follow-up to “How Climate Change Affects the World We Live In”</a:t>
            </a:r>
          </a:p>
        </p:txBody>
      </p:sp>
      <p:sp>
        <p:nvSpPr>
          <p:cNvPr id="20" name="TextBox 19"/>
          <p:cNvSpPr txBox="1"/>
          <p:nvPr/>
        </p:nvSpPr>
        <p:spPr>
          <a:xfrm>
            <a:off x="10972800" y="6446520"/>
            <a:ext cx="914400" cy="274320"/>
          </a:xfrm>
          <a:prstGeom prst="rect">
            <a:avLst/>
          </a:prstGeom>
          <a:noFill/>
        </p:spPr>
        <p:txBody>
          <a:bodyPr wrap="square" lIns="0" rIns="0" tIns="0" bIns="0" anchor="t">
            <a:spAutoFit/>
          </a:bodyPr>
          <a:lstStyle/>
          <a:p>
            <a:pPr algn="r"/>
            <a:r>
              <a:rPr sz="900" b="0">
                <a:solidFill>
                  <a:srgbClr val="9CA3AF"/>
                </a:solidFill>
                <a:latin typeface="Calibri"/>
              </a:rPr>
              <a:t>7 / 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57200"/>
            <a:ext cx="2743200" cy="365760"/>
          </a:xfrm>
          <a:prstGeom prst="rect">
            <a:avLst/>
          </a:prstGeom>
          <a:noFill/>
        </p:spPr>
        <p:txBody>
          <a:bodyPr wrap="square" lIns="0" rIns="0" tIns="0" bIns="0" anchor="t">
            <a:spAutoFit/>
          </a:bodyPr>
          <a:lstStyle/>
          <a:p>
            <a:pPr algn="l"/>
            <a:r>
              <a:rPr sz="1100" b="1">
                <a:solidFill>
                  <a:srgbClr val="1F4E79"/>
                </a:solidFill>
                <a:latin typeface="Calibri"/>
              </a:rPr>
              <a:t>IN CLOSING</a:t>
            </a:r>
          </a:p>
        </p:txBody>
      </p:sp>
      <p:sp>
        <p:nvSpPr>
          <p:cNvPr id="4" name="TextBox 3"/>
          <p:cNvSpPr txBox="1"/>
          <p:nvPr/>
        </p:nvSpPr>
        <p:spPr>
          <a:xfrm>
            <a:off x="548640" y="1280160"/>
            <a:ext cx="11064240" cy="2286000"/>
          </a:xfrm>
          <a:prstGeom prst="rect">
            <a:avLst/>
          </a:prstGeom>
          <a:noFill/>
        </p:spPr>
        <p:txBody>
          <a:bodyPr wrap="square" lIns="0" rIns="0" tIns="0" bIns="0" anchor="t">
            <a:spAutoFit/>
          </a:bodyPr>
          <a:lstStyle/>
          <a:p>
            <a:pPr algn="l"/>
            <a:r>
              <a:rPr sz="2800" b="1">
                <a:solidFill>
                  <a:srgbClr val="1F2937"/>
                </a:solidFill>
                <a:latin typeface="Calibri"/>
              </a:rPr>
              <a:t>Counting only future climate deaths and ignoring 3.2 million present-day energy-poverty deaths is bad arithmetic — and bad ethics.</a:t>
            </a:r>
          </a:p>
        </p:txBody>
      </p:sp>
      <p:sp>
        <p:nvSpPr>
          <p:cNvPr id="5" name="Rectangle 4"/>
          <p:cNvSpPr/>
          <p:nvPr/>
        </p:nvSpPr>
        <p:spPr>
          <a:xfrm>
            <a:off x="548640" y="3840480"/>
            <a:ext cx="5394960" cy="2103120"/>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069080"/>
            <a:ext cx="4937760" cy="457200"/>
          </a:xfrm>
          <a:prstGeom prst="rect">
            <a:avLst/>
          </a:prstGeom>
          <a:noFill/>
        </p:spPr>
        <p:txBody>
          <a:bodyPr wrap="square" lIns="0" rIns="0" tIns="0" bIns="0" anchor="t">
            <a:spAutoFit/>
          </a:bodyPr>
          <a:lstStyle/>
          <a:p>
            <a:pPr algn="l"/>
            <a:r>
              <a:rPr sz="1400" b="1">
                <a:solidFill>
                  <a:srgbClr val="4B5563"/>
                </a:solidFill>
                <a:latin typeface="Calibri"/>
              </a:rPr>
              <a:t>I am NOT saying:</a:t>
            </a:r>
          </a:p>
        </p:txBody>
      </p:sp>
      <p:sp>
        <p:nvSpPr>
          <p:cNvPr id="7" name="TextBox 6"/>
          <p:cNvSpPr txBox="1"/>
          <p:nvPr/>
        </p:nvSpPr>
        <p:spPr>
          <a:xfrm>
            <a:off x="777240" y="4572000"/>
            <a:ext cx="4937760" cy="1188720"/>
          </a:xfrm>
          <a:prstGeom prst="rect">
            <a:avLst/>
          </a:prstGeom>
          <a:noFill/>
        </p:spPr>
        <p:txBody>
          <a:bodyPr wrap="square" lIns="0" rIns="0" tIns="0" bIns="0" anchor="t">
            <a:spAutoFit/>
          </a:bodyPr>
          <a:lstStyle/>
          <a:p>
            <a:pPr algn="l"/>
            <a:r>
              <a:rPr sz="1400" b="0">
                <a:solidFill>
                  <a:srgbClr val="4B5563"/>
                </a:solidFill>
                <a:latin typeface="Calibri"/>
              </a:rPr>
              <a:t>•  Climate change isn’t real
•  Renewables don’t work
•  Africa should burn more coal</a:t>
            </a:r>
          </a:p>
        </p:txBody>
      </p:sp>
      <p:sp>
        <p:nvSpPr>
          <p:cNvPr id="8" name="Rectangle 7"/>
          <p:cNvSpPr/>
          <p:nvPr/>
        </p:nvSpPr>
        <p:spPr>
          <a:xfrm>
            <a:off x="6263640" y="3840480"/>
            <a:ext cx="5394960" cy="210312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4069080"/>
            <a:ext cx="4937760" cy="457200"/>
          </a:xfrm>
          <a:prstGeom prst="rect">
            <a:avLst/>
          </a:prstGeom>
          <a:noFill/>
        </p:spPr>
        <p:txBody>
          <a:bodyPr wrap="square" lIns="0" rIns="0" tIns="0" bIns="0" anchor="t">
            <a:spAutoFit/>
          </a:bodyPr>
          <a:lstStyle/>
          <a:p>
            <a:pPr algn="l"/>
            <a:r>
              <a:rPr sz="1400" b="1">
                <a:solidFill>
                  <a:srgbClr val="FFFFFF"/>
                </a:solidFill>
                <a:latin typeface="Calibri"/>
              </a:rPr>
              <a:t>I AM saying:</a:t>
            </a:r>
          </a:p>
        </p:txBody>
      </p:sp>
      <p:sp>
        <p:nvSpPr>
          <p:cNvPr id="10" name="TextBox 9"/>
          <p:cNvSpPr txBox="1"/>
          <p:nvPr/>
        </p:nvSpPr>
        <p:spPr>
          <a:xfrm>
            <a:off x="6492240" y="4572000"/>
            <a:ext cx="4937760" cy="1188720"/>
          </a:xfrm>
          <a:prstGeom prst="rect">
            <a:avLst/>
          </a:prstGeom>
          <a:noFill/>
        </p:spPr>
        <p:txBody>
          <a:bodyPr wrap="square" lIns="0" rIns="0" tIns="0" bIns="0" anchor="t">
            <a:spAutoFit/>
          </a:bodyPr>
          <a:lstStyle/>
          <a:p>
            <a:pPr algn="l"/>
            <a:r>
              <a:rPr sz="1400" b="0">
                <a:solidFill>
                  <a:srgbClr val="FFFFFF"/>
                </a:solidFill>
                <a:latin typeface="Calibri"/>
              </a:rPr>
              <a:t>•  The honest cost-benefit picture
    includes the people dying today
    because they have no power, no
    gas, no light.</a:t>
            </a:r>
          </a:p>
        </p:txBody>
      </p:sp>
      <p:sp>
        <p:nvSpPr>
          <p:cNvPr id="11" name="TextBox 10"/>
          <p:cNvSpPr txBox="1"/>
          <p:nvPr/>
        </p:nvSpPr>
        <p:spPr>
          <a:xfrm>
            <a:off x="548640" y="6126480"/>
            <a:ext cx="10972800" cy="274320"/>
          </a:xfrm>
          <a:prstGeom prst="rect">
            <a:avLst/>
          </a:prstGeom>
          <a:noFill/>
        </p:spPr>
        <p:txBody>
          <a:bodyPr wrap="square" lIns="0" rIns="0" tIns="0" bIns="0" anchor="t">
            <a:spAutoFit/>
          </a:bodyPr>
          <a:lstStyle/>
          <a:p>
            <a:pPr algn="l"/>
            <a:r>
              <a:rPr sz="1400" b="1">
                <a:solidFill>
                  <a:srgbClr val="1F4E79"/>
                </a:solidFill>
                <a:latin typeface="Calibri"/>
              </a:rPr>
              <a:t>Thank you. Questions?</a:t>
            </a:r>
          </a:p>
        </p:txBody>
      </p:sp>
      <p:sp>
        <p:nvSpPr>
          <p:cNvPr id="12" name="TextBox 11"/>
          <p:cNvSpPr txBox="1"/>
          <p:nvPr/>
        </p:nvSpPr>
        <p:spPr>
          <a:xfrm>
            <a:off x="457200" y="6446520"/>
            <a:ext cx="7315200" cy="274320"/>
          </a:xfrm>
          <a:prstGeom prst="rect">
            <a:avLst/>
          </a:prstGeom>
          <a:noFill/>
        </p:spPr>
        <p:txBody>
          <a:bodyPr wrap="square" lIns="0" rIns="0" tIns="0" bIns="0" anchor="t">
            <a:spAutoFit/>
          </a:bodyPr>
          <a:lstStyle/>
          <a:p>
            <a:pPr algn="l"/>
            <a:r>
              <a:rPr sz="900" b="0">
                <a:solidFill>
                  <a:srgbClr val="9CA3AF"/>
                </a:solidFill>
                <a:latin typeface="Calibri"/>
              </a:rPr>
              <a:t>Choolwe  •  The Case For Fossil Fuels  •  Follow-up to “How Climate Change Affects the World We Live In”</a:t>
            </a:r>
          </a:p>
        </p:txBody>
      </p:sp>
      <p:sp>
        <p:nvSpPr>
          <p:cNvPr id="13" name="TextBox 12"/>
          <p:cNvSpPr txBox="1"/>
          <p:nvPr/>
        </p:nvSpPr>
        <p:spPr>
          <a:xfrm>
            <a:off x="10972800" y="6446520"/>
            <a:ext cx="914400" cy="274320"/>
          </a:xfrm>
          <a:prstGeom prst="rect">
            <a:avLst/>
          </a:prstGeom>
          <a:noFill/>
        </p:spPr>
        <p:txBody>
          <a:bodyPr wrap="square" lIns="0" rIns="0" tIns="0" bIns="0" anchor="t">
            <a:spAutoFit/>
          </a:bodyPr>
          <a:lstStyle/>
          <a:p>
            <a:pPr algn="r"/>
            <a:r>
              <a:rPr sz="900" b="0">
                <a:solidFill>
                  <a:srgbClr val="9CA3AF"/>
                </a:solidFill>
                <a:latin typeface="Calibri"/>
              </a:rPr>
              <a:t>8 /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