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sec) Last week I argued we should cut fossil fuels. Today I want to make the most honest counter-argument I can — not because I've changed my mind on climate change, but because the picture I painted was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Quick grounding before the argument. Fossil fuels are just stored ancient sunlight — plants and ocean plankton, buried and cooked over millions of years into coal, oil and gas. Burning them releases that stored energy, and the CO₂ that comes with it. They're still roughly 80% of all the energy humanity uses — not just electricity, but transport, heat, and the steel, cement and fertilizer modern life is built from. Hold that scale in mind for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This is what I want you to walk out of the room remembering. Let me show you how I got there.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The climate data hasn't moved. CO₂ is rising, temperatures are rising, disasters are increasing. That deck was honest about half the story. Today I want to show you the other half.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My last deck counted future deaths from climate change. It did not count the 3.2 million people who die EVERY YEAR right now from cooking on open fires because they have no clean fuel. In sub-Saharan Africa alone that's 815,000 deaths a year — most of them women and children. Energy poverty has a body count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Look at this asymmetry. Every wealthy country on Earth got rich by burning coal, then oil, then gas. They are now asking the continent that contributed least to the problem to skip that ladder — using clean-energy technology whose OWN supply chain still runs on fossil fuels. That's not a climate plan. That's an injustice with a green sticker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lived this. We did the 'clean' thing — 85% of our installed capacity is hydropower. Then the climate broke our climate solution. ZESCO ran load shedding of up to 21 hours a day. The lesson is NOT 'burn more coal.' The lesson is: firm power matters, and pretending otherwise is paid for in dark hospitals and empty cold-chains.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This is the Hans Rosling curve. Below about three thousand kilowatt-hours per person per year, every additional kilowatt-hour translates directly into life-years — through clinics, refrigerated vaccines, lit classrooms, water pumps. Zambia is right on the steep part of that curve. Cutting energy access there costs life-years immediately. That's why the moral arithmetic doesn't end with climate.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 I'm not arguing fossil fuels forever. I'm arguing for a MANAGED transition. Natural gas as a bridge — emits half what coal does and Africa holds 13% of global reserves. Renewables scaled aggressively on top — solar in Zambia is already the cheapest new capacity. And firm power kept on until storage and grid infrastructure can stand alone. That's how we lift the bottom billion while decarbonising the top.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Q&amp;A. If anyone questions a stat, the source is here. Full URLs are in the repo's research/notes.md.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0" y="0"/>
            <a:ext cx="146304" cy="6858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3474720" cy="457200"/>
          </a:xfrm>
          <a:prstGeom prst="rect">
            <a:avLst/>
          </a:prstGeom>
          <a:noFill/>
        </p:spPr>
        <p:txBody>
          <a:bodyPr wrap="square" lIns="0" rIns="0" tIns="0" bIns="0" anchor="t">
            <a:spAutoFit/>
          </a:bodyPr>
          <a:lstStyle/>
          <a:p>
            <a:pPr algn="l"/>
            <a:r>
              <a:rPr sz="1200" b="1">
                <a:solidFill>
                  <a:srgbClr val="D97706"/>
                </a:solidFill>
                <a:latin typeface="Calibri"/>
              </a:rPr>
              <a:t>FOLLOW-UP</a:t>
            </a:r>
          </a:p>
        </p:txBody>
      </p:sp>
      <p:sp>
        <p:nvSpPr>
          <p:cNvPr id="5" name="TextBox 4"/>
          <p:cNvSpPr txBox="1"/>
          <p:nvPr/>
        </p:nvSpPr>
        <p:spPr>
          <a:xfrm>
            <a:off x="548640" y="2468880"/>
            <a:ext cx="3474720" cy="914400"/>
          </a:xfrm>
          <a:prstGeom prst="rect">
            <a:avLst/>
          </a:prstGeom>
          <a:noFill/>
        </p:spPr>
        <p:txBody>
          <a:bodyPr wrap="square" lIns="0" rIns="0" tIns="0" bIns="0" anchor="t">
            <a:spAutoFit/>
          </a:bodyPr>
          <a:lstStyle/>
          <a:p>
            <a:pPr algn="l"/>
            <a:r>
              <a:rPr sz="4600" b="1">
                <a:solidFill>
                  <a:srgbClr val="FFFFFF"/>
                </a:solidFill>
                <a:latin typeface="Calibri"/>
              </a:rPr>
              <a:t>The Case</a:t>
            </a:r>
          </a:p>
        </p:txBody>
      </p:sp>
      <p:sp>
        <p:nvSpPr>
          <p:cNvPr id="6" name="TextBox 5"/>
          <p:cNvSpPr txBox="1"/>
          <p:nvPr/>
        </p:nvSpPr>
        <p:spPr>
          <a:xfrm>
            <a:off x="548640" y="3154680"/>
            <a:ext cx="3474720" cy="914400"/>
          </a:xfrm>
          <a:prstGeom prst="rect">
            <a:avLst/>
          </a:prstGeom>
          <a:noFill/>
        </p:spPr>
        <p:txBody>
          <a:bodyPr wrap="square" lIns="0" rIns="0" tIns="0" bIns="0" anchor="t">
            <a:spAutoFit/>
          </a:bodyPr>
          <a:lstStyle/>
          <a:p>
            <a:pPr algn="l"/>
            <a:r>
              <a:rPr sz="4600" b="1">
                <a:solidFill>
                  <a:srgbClr val="FFFFFF"/>
                </a:solidFill>
                <a:latin typeface="Calibri"/>
              </a:rPr>
              <a:t>For Fossil</a:t>
            </a:r>
          </a:p>
        </p:txBody>
      </p:sp>
      <p:sp>
        <p:nvSpPr>
          <p:cNvPr id="7" name="TextBox 6"/>
          <p:cNvSpPr txBox="1"/>
          <p:nvPr/>
        </p:nvSpPr>
        <p:spPr>
          <a:xfrm>
            <a:off x="548640" y="3840480"/>
            <a:ext cx="3474720" cy="914400"/>
          </a:xfrm>
          <a:prstGeom prst="rect">
            <a:avLst/>
          </a:prstGeom>
          <a:noFill/>
        </p:spPr>
        <p:txBody>
          <a:bodyPr wrap="square" lIns="0" rIns="0" tIns="0" bIns="0" anchor="t">
            <a:spAutoFit/>
          </a:bodyPr>
          <a:lstStyle/>
          <a:p>
            <a:pPr algn="l"/>
            <a:r>
              <a:rPr sz="4600" b="1">
                <a:solidFill>
                  <a:srgbClr val="FFFFFF"/>
                </a:solidFill>
                <a:latin typeface="Calibri"/>
              </a:rPr>
              <a:t>Fuels</a:t>
            </a:r>
          </a:p>
        </p:txBody>
      </p:sp>
      <p:sp>
        <p:nvSpPr>
          <p:cNvPr id="8" name="TextBox 7"/>
          <p:cNvSpPr txBox="1"/>
          <p:nvPr/>
        </p:nvSpPr>
        <p:spPr>
          <a:xfrm>
            <a:off x="548640" y="5029200"/>
            <a:ext cx="3474720" cy="365760"/>
          </a:xfrm>
          <a:prstGeom prst="rect">
            <a:avLst/>
          </a:prstGeom>
          <a:noFill/>
        </p:spPr>
        <p:txBody>
          <a:bodyPr wrap="square" lIns="0" rIns="0" tIns="0" bIns="0" anchor="t">
            <a:spAutoFit/>
          </a:bodyPr>
          <a:lstStyle/>
          <a:p>
            <a:pPr algn="l"/>
            <a:r>
              <a:rPr sz="1400" b="0">
                <a:solidFill>
                  <a:srgbClr val="DBE5F1"/>
                </a:solidFill>
                <a:latin typeface="Calibri"/>
              </a:rPr>
              <a:t>A steelman counter-argument</a:t>
            </a:r>
          </a:p>
        </p:txBody>
      </p:sp>
      <p:sp>
        <p:nvSpPr>
          <p:cNvPr id="9" name="TextBox 8"/>
          <p:cNvSpPr txBox="1"/>
          <p:nvPr/>
        </p:nvSpPr>
        <p:spPr>
          <a:xfrm>
            <a:off x="4937760" y="1737360"/>
            <a:ext cx="6858000" cy="365760"/>
          </a:xfrm>
          <a:prstGeom prst="rect">
            <a:avLst/>
          </a:prstGeom>
          <a:noFill/>
        </p:spPr>
        <p:txBody>
          <a:bodyPr wrap="square" lIns="0" rIns="0" tIns="0" bIns="0" anchor="t">
            <a:spAutoFit/>
          </a:bodyPr>
          <a:lstStyle/>
          <a:p>
            <a:pPr algn="l"/>
            <a:r>
              <a:rPr sz="1100" b="1">
                <a:solidFill>
                  <a:srgbClr val="9CA3AF"/>
                </a:solidFill>
                <a:latin typeface="Calibri"/>
              </a:rPr>
              <a:t>REPLY TO LAST WEEK</a:t>
            </a:r>
          </a:p>
        </p:txBody>
      </p:sp>
      <p:sp>
        <p:nvSpPr>
          <p:cNvPr id="10" name="TextBox 9"/>
          <p:cNvSpPr txBox="1"/>
          <p:nvPr/>
        </p:nvSpPr>
        <p:spPr>
          <a:xfrm>
            <a:off x="4937760" y="2103120"/>
            <a:ext cx="6858000" cy="457200"/>
          </a:xfrm>
          <a:prstGeom prst="rect">
            <a:avLst/>
          </a:prstGeom>
          <a:noFill/>
        </p:spPr>
        <p:txBody>
          <a:bodyPr wrap="square" lIns="0" rIns="0" tIns="0" bIns="0" anchor="t">
            <a:spAutoFit/>
          </a:bodyPr>
          <a:lstStyle/>
          <a:p>
            <a:pPr algn="l"/>
            <a:r>
              <a:rPr sz="1300" b="0">
                <a:solidFill>
                  <a:srgbClr val="4B5563"/>
                </a:solidFill>
                <a:latin typeface="Calibri"/>
              </a:rPr>
              <a:t>“How Climate Change Affects the World We Live In”</a:t>
            </a:r>
          </a:p>
        </p:txBody>
      </p:sp>
      <p:sp>
        <p:nvSpPr>
          <p:cNvPr id="11" name="TextBox 10"/>
          <p:cNvSpPr txBox="1"/>
          <p:nvPr/>
        </p:nvSpPr>
        <p:spPr>
          <a:xfrm>
            <a:off x="4937760" y="2834640"/>
            <a:ext cx="6858000" cy="914400"/>
          </a:xfrm>
          <a:prstGeom prst="rect">
            <a:avLst/>
          </a:prstGeom>
          <a:noFill/>
        </p:spPr>
        <p:txBody>
          <a:bodyPr wrap="square" lIns="0" rIns="0" tIns="0" bIns="0" anchor="t">
            <a:spAutoFit/>
          </a:bodyPr>
          <a:lstStyle/>
          <a:p>
            <a:pPr algn="l"/>
            <a:r>
              <a:rPr sz="2800" b="1">
                <a:solidFill>
                  <a:srgbClr val="1F2937"/>
                </a:solidFill>
                <a:latin typeface="Calibri"/>
              </a:rPr>
              <a:t>Today: the other half of the story.</a:t>
            </a:r>
          </a:p>
        </p:txBody>
      </p:sp>
      <p:sp>
        <p:nvSpPr>
          <p:cNvPr id="12" name="TextBox 11"/>
          <p:cNvSpPr txBox="1"/>
          <p:nvPr/>
        </p:nvSpPr>
        <p:spPr>
          <a:xfrm>
            <a:off x="4937760" y="3657600"/>
            <a:ext cx="6858000" cy="731520"/>
          </a:xfrm>
          <a:prstGeom prst="rect">
            <a:avLst/>
          </a:prstGeom>
          <a:noFill/>
        </p:spPr>
        <p:txBody>
          <a:bodyPr wrap="square" lIns="0" rIns="0" tIns="0" bIns="0" anchor="t">
            <a:spAutoFit/>
          </a:bodyPr>
          <a:lstStyle/>
          <a:p>
            <a:pPr algn="l"/>
            <a:r>
              <a:rPr sz="1500" b="0">
                <a:solidFill>
                  <a:srgbClr val="4B5563"/>
                </a:solidFill>
                <a:latin typeface="Calibri"/>
              </a:rPr>
              <a:t>Why cutting fossil fuels now can cost
more lives than it saves.</a:t>
            </a:r>
          </a:p>
        </p:txBody>
      </p:sp>
      <p:sp>
        <p:nvSpPr>
          <p:cNvPr id="13" name="TextBox 12"/>
          <p:cNvSpPr txBox="1"/>
          <p:nvPr/>
        </p:nvSpPr>
        <p:spPr>
          <a:xfrm>
            <a:off x="4937760" y="4663440"/>
            <a:ext cx="6858000" cy="457200"/>
          </a:xfrm>
          <a:prstGeom prst="rect">
            <a:avLst/>
          </a:prstGeom>
          <a:noFill/>
        </p:spPr>
        <p:txBody>
          <a:bodyPr wrap="square" lIns="0" rIns="0" tIns="0" bIns="0" anchor="t">
            <a:spAutoFit/>
          </a:bodyPr>
          <a:lstStyle/>
          <a:p>
            <a:pPr algn="l"/>
            <a:r>
              <a:rPr sz="2200" b="1">
                <a:solidFill>
                  <a:srgbClr val="1F4E79"/>
                </a:solidFill>
                <a:latin typeface="Calibri"/>
              </a:rPr>
              <a:t>Choolwe</a:t>
            </a:r>
          </a:p>
        </p:txBody>
      </p:sp>
      <p:sp>
        <p:nvSpPr>
          <p:cNvPr id="14" name="TextBox 13"/>
          <p:cNvSpPr txBox="1"/>
          <p:nvPr/>
        </p:nvSpPr>
        <p:spPr>
          <a:xfrm>
            <a:off x="4937760" y="5166360"/>
            <a:ext cx="6858000" cy="365760"/>
          </a:xfrm>
          <a:prstGeom prst="rect">
            <a:avLst/>
          </a:prstGeom>
          <a:noFill/>
        </p:spPr>
        <p:txBody>
          <a:bodyPr wrap="square" lIns="0" rIns="0" tIns="0" bIns="0" anchor="t">
            <a:spAutoFit/>
          </a:bodyPr>
          <a:lstStyle/>
          <a:p>
            <a:pPr algn="l"/>
            <a:r>
              <a:rPr sz="1300" b="0">
                <a:solidFill>
                  <a:srgbClr val="4B5563"/>
                </a:solidFill>
                <a:latin typeface="Calibri"/>
              </a:rPr>
              <a:t>Analytics in Training  •  May 2026</a:t>
            </a:r>
          </a:p>
        </p:txBody>
      </p:sp>
      <p:sp>
        <p:nvSpPr>
          <p:cNvPr id="15" name="Oval 14"/>
          <p:cNvSpPr/>
          <p:nvPr/>
        </p:nvSpPr>
        <p:spPr>
          <a:xfrm>
            <a:off x="10378440" y="5591556"/>
            <a:ext cx="640080" cy="70408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54462" y="5815584"/>
            <a:ext cx="288036" cy="384048"/>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109960" y="5623560"/>
            <a:ext cx="640080" cy="6400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ightning Bolt 17"/>
          <p:cNvSpPr/>
          <p:nvPr/>
        </p:nvSpPr>
        <p:spPr>
          <a:xfrm>
            <a:off x="11269980" y="5703570"/>
            <a:ext cx="320040" cy="48006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PRIMER  •  WHAT WE'RE TALKING ABOUT</a:t>
            </a:r>
          </a:p>
        </p:txBody>
      </p:sp>
      <p:sp>
        <p:nvSpPr>
          <p:cNvPr id="5" name="TextBox 4"/>
          <p:cNvSpPr txBox="1"/>
          <p:nvPr/>
        </p:nvSpPr>
        <p:spPr>
          <a:xfrm>
            <a:off x="548640" y="1097280"/>
            <a:ext cx="11064240" cy="1097280"/>
          </a:xfrm>
          <a:prstGeom prst="rect">
            <a:avLst/>
          </a:prstGeom>
          <a:noFill/>
        </p:spPr>
        <p:txBody>
          <a:bodyPr wrap="square" lIns="0" rIns="0" tIns="0" bIns="0" anchor="t">
            <a:spAutoFit/>
          </a:bodyPr>
          <a:lstStyle/>
          <a:p>
            <a:pPr algn="l"/>
            <a:r>
              <a:rPr sz="2400" b="1">
                <a:solidFill>
                  <a:srgbClr val="1F2937"/>
                </a:solidFill>
                <a:latin typeface="Calibri"/>
              </a:rPr>
              <a:t>Fossil fuels are stored ancient sunlight —
and still about 80% of the energy the world runs on.</a:t>
            </a:r>
          </a:p>
        </p:txBody>
      </p:sp>
      <p:sp>
        <p:nvSpPr>
          <p:cNvPr id="6" name="Rounded Rectangle 5"/>
          <p:cNvSpPr/>
          <p:nvPr/>
        </p:nvSpPr>
        <p:spPr>
          <a:xfrm>
            <a:off x="548640" y="2651760"/>
            <a:ext cx="3520440" cy="274320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651760"/>
            <a:ext cx="164592" cy="2743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295351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40003" y="3234415"/>
            <a:ext cx="497433" cy="234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7015" y="2997403"/>
            <a:ext cx="23408" cy="4974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3063240"/>
            <a:ext cx="2240280" cy="731520"/>
          </a:xfrm>
          <a:prstGeom prst="rect">
            <a:avLst/>
          </a:prstGeom>
          <a:noFill/>
        </p:spPr>
        <p:txBody>
          <a:bodyPr wrap="square" lIns="0" rIns="0" tIns="0" bIns="0" anchor="t">
            <a:spAutoFit/>
          </a:bodyPr>
          <a:lstStyle/>
          <a:p>
            <a:pPr algn="l"/>
            <a:r>
              <a:rPr sz="1600" b="1">
                <a:solidFill>
                  <a:srgbClr val="1F2937"/>
                </a:solidFill>
                <a:latin typeface="Calibri"/>
              </a:rPr>
              <a:t>Coal</a:t>
            </a:r>
          </a:p>
        </p:txBody>
      </p:sp>
      <p:sp>
        <p:nvSpPr>
          <p:cNvPr id="12" name="TextBox 11"/>
          <p:cNvSpPr txBox="1"/>
          <p:nvPr/>
        </p:nvSpPr>
        <p:spPr>
          <a:xfrm>
            <a:off x="914400" y="4069080"/>
            <a:ext cx="2971800" cy="1188720"/>
          </a:xfrm>
          <a:prstGeom prst="rect">
            <a:avLst/>
          </a:prstGeom>
          <a:noFill/>
        </p:spPr>
        <p:txBody>
          <a:bodyPr wrap="square" lIns="0" rIns="0" tIns="0" bIns="0" anchor="t">
            <a:spAutoFit/>
          </a:bodyPr>
          <a:lstStyle/>
          <a:p>
            <a:pPr algn="l"/>
            <a:r>
              <a:rPr sz="1250" b="0">
                <a:solidFill>
                  <a:srgbClr val="4B5563"/>
                </a:solidFill>
                <a:latin typeface="Calibri"/>
              </a:rPr>
              <a:t>Ancient land plants and swamp forests,
buried and compressed. Mined as a solid.</a:t>
            </a:r>
          </a:p>
        </p:txBody>
      </p:sp>
      <p:sp>
        <p:nvSpPr>
          <p:cNvPr id="13" name="Rounded Rectangle 12"/>
          <p:cNvSpPr/>
          <p:nvPr/>
        </p:nvSpPr>
        <p:spPr>
          <a:xfrm>
            <a:off x="4343400" y="2651760"/>
            <a:ext cx="3520440" cy="274320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651760"/>
            <a:ext cx="164592" cy="2743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90872" y="2924251"/>
            <a:ext cx="585216" cy="643737"/>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51806" y="3129076"/>
            <a:ext cx="263347" cy="351129"/>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3063240"/>
            <a:ext cx="2240280" cy="731520"/>
          </a:xfrm>
          <a:prstGeom prst="rect">
            <a:avLst/>
          </a:prstGeom>
          <a:noFill/>
        </p:spPr>
        <p:txBody>
          <a:bodyPr wrap="square" lIns="0" rIns="0" tIns="0" bIns="0" anchor="t">
            <a:spAutoFit/>
          </a:bodyPr>
          <a:lstStyle/>
          <a:p>
            <a:pPr algn="l"/>
            <a:r>
              <a:rPr sz="1600" b="1">
                <a:solidFill>
                  <a:srgbClr val="1F2937"/>
                </a:solidFill>
                <a:latin typeface="Calibri"/>
              </a:rPr>
              <a:t>Oil (petroleum)</a:t>
            </a:r>
          </a:p>
        </p:txBody>
      </p:sp>
      <p:sp>
        <p:nvSpPr>
          <p:cNvPr id="18" name="TextBox 17"/>
          <p:cNvSpPr txBox="1"/>
          <p:nvPr/>
        </p:nvSpPr>
        <p:spPr>
          <a:xfrm>
            <a:off x="4709160" y="4069080"/>
            <a:ext cx="2971800" cy="1188720"/>
          </a:xfrm>
          <a:prstGeom prst="rect">
            <a:avLst/>
          </a:prstGeom>
          <a:noFill/>
        </p:spPr>
        <p:txBody>
          <a:bodyPr wrap="square" lIns="0" rIns="0" tIns="0" bIns="0" anchor="t">
            <a:spAutoFit/>
          </a:bodyPr>
          <a:lstStyle/>
          <a:p>
            <a:pPr algn="l"/>
            <a:r>
              <a:rPr sz="1250" b="0">
                <a:solidFill>
                  <a:srgbClr val="4B5563"/>
                </a:solidFill>
                <a:latin typeface="Calibri"/>
              </a:rPr>
              <a:t>Ancient ocean plankton and algae,
cooked under pressure. Drilled as a liquid.</a:t>
            </a:r>
          </a:p>
        </p:txBody>
      </p:sp>
      <p:sp>
        <p:nvSpPr>
          <p:cNvPr id="19" name="Rounded Rectangle 18"/>
          <p:cNvSpPr/>
          <p:nvPr/>
        </p:nvSpPr>
        <p:spPr>
          <a:xfrm>
            <a:off x="8138160" y="2651760"/>
            <a:ext cx="3520440" cy="274320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2651760"/>
            <a:ext cx="164592" cy="2743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85632" y="295351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8631936" y="3026664"/>
            <a:ext cx="292608" cy="43891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3063240"/>
            <a:ext cx="2240280" cy="731520"/>
          </a:xfrm>
          <a:prstGeom prst="rect">
            <a:avLst/>
          </a:prstGeom>
          <a:noFill/>
        </p:spPr>
        <p:txBody>
          <a:bodyPr wrap="square" lIns="0" rIns="0" tIns="0" bIns="0" anchor="t">
            <a:spAutoFit/>
          </a:bodyPr>
          <a:lstStyle/>
          <a:p>
            <a:pPr algn="l"/>
            <a:r>
              <a:rPr sz="1600" b="1">
                <a:solidFill>
                  <a:srgbClr val="1F2937"/>
                </a:solidFill>
                <a:latin typeface="Calibri"/>
              </a:rPr>
              <a:t>Natural gas</a:t>
            </a:r>
          </a:p>
        </p:txBody>
      </p:sp>
      <p:sp>
        <p:nvSpPr>
          <p:cNvPr id="24" name="TextBox 23"/>
          <p:cNvSpPr txBox="1"/>
          <p:nvPr/>
        </p:nvSpPr>
        <p:spPr>
          <a:xfrm>
            <a:off x="8503920" y="4069080"/>
            <a:ext cx="2971800" cy="1188720"/>
          </a:xfrm>
          <a:prstGeom prst="rect">
            <a:avLst/>
          </a:prstGeom>
          <a:noFill/>
        </p:spPr>
        <p:txBody>
          <a:bodyPr wrap="square" lIns="0" rIns="0" tIns="0" bIns="0" anchor="t">
            <a:spAutoFit/>
          </a:bodyPr>
          <a:lstStyle/>
          <a:p>
            <a:pPr algn="l"/>
            <a:r>
              <a:rPr sz="1250" b="0">
                <a:solidFill>
                  <a:srgbClr val="4B5563"/>
                </a:solidFill>
                <a:latin typeface="Calibri"/>
              </a:rPr>
              <a:t>The same organic matter, cooked hotter.
Drilled as a gas — mostly methane.</a:t>
            </a:r>
          </a:p>
        </p:txBody>
      </p:sp>
      <p:sp>
        <p:nvSpPr>
          <p:cNvPr id="25" name="TextBox 24"/>
          <p:cNvSpPr txBox="1"/>
          <p:nvPr/>
        </p:nvSpPr>
        <p:spPr>
          <a:xfrm>
            <a:off x="548640" y="5760720"/>
            <a:ext cx="11064240" cy="548640"/>
          </a:xfrm>
          <a:prstGeom prst="rect">
            <a:avLst/>
          </a:prstGeom>
          <a:noFill/>
        </p:spPr>
        <p:txBody>
          <a:bodyPr wrap="square" lIns="0" rIns="0" tIns="0" bIns="0" anchor="t">
            <a:spAutoFit/>
          </a:bodyPr>
          <a:lstStyle/>
          <a:p>
            <a:pPr algn="l"/>
            <a:r>
              <a:rPr sz="1300" b="1">
                <a:solidFill>
                  <a:srgbClr val="4B5563"/>
                </a:solidFill>
                <a:latin typeface="Calibri"/>
              </a:rPr>
              <a:t>What we use them for today:  electricity · transport · heat · industry (steel, cement, fertilizer) · cooking.</a:t>
            </a:r>
          </a:p>
        </p:txBody>
      </p:sp>
      <p:sp>
        <p:nvSpPr>
          <p:cNvPr id="26" name="TextBox 25"/>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7" name="TextBox 26"/>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411480" cy="67116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0392" y="72237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640080"/>
            <a:ext cx="4572000" cy="365760"/>
          </a:xfrm>
          <a:prstGeom prst="rect">
            <a:avLst/>
          </a:prstGeom>
          <a:noFill/>
        </p:spPr>
        <p:txBody>
          <a:bodyPr wrap="square" lIns="0" rIns="0" tIns="0" bIns="0" anchor="t">
            <a:spAutoFit/>
          </a:bodyPr>
          <a:lstStyle/>
          <a:p>
            <a:pPr algn="l"/>
            <a:r>
              <a:rPr sz="1100" b="1">
                <a:solidFill>
                  <a:srgbClr val="D97706"/>
                </a:solidFill>
                <a:latin typeface="Calibri"/>
              </a:rPr>
              <a:t>THE BIG IDEA</a:t>
            </a:r>
          </a:p>
        </p:txBody>
      </p:sp>
      <p:sp>
        <p:nvSpPr>
          <p:cNvPr id="6" name="TextBox 5"/>
          <p:cNvSpPr txBox="1"/>
          <p:nvPr/>
        </p:nvSpPr>
        <p:spPr>
          <a:xfrm>
            <a:off x="822960" y="1554480"/>
            <a:ext cx="10515600" cy="1828800"/>
          </a:xfrm>
          <a:prstGeom prst="rect">
            <a:avLst/>
          </a:prstGeom>
          <a:noFill/>
        </p:spPr>
        <p:txBody>
          <a:bodyPr wrap="square" lIns="0" rIns="0">
            <a:spAutoFit/>
          </a:bodyPr>
          <a:lstStyle/>
          <a:p>
            <a:r>
              <a:rPr sz="2800">
                <a:solidFill>
                  <a:srgbClr val="4B5563"/>
                </a:solidFill>
                <a:latin typeface="Calibri"/>
              </a:rPr>
              <a:t>Africa caused </a:t>
            </a:r>
            <a:r>
              <a:rPr sz="2800" b="1">
                <a:solidFill>
                  <a:srgbClr val="D97706"/>
                </a:solidFill>
                <a:latin typeface="Calibri"/>
              </a:rPr>
              <a:t>3% of climate change</a:t>
            </a:r>
            <a:r>
              <a:rPr sz="2800">
                <a:solidFill>
                  <a:srgbClr val="4B5563"/>
                </a:solidFill>
                <a:latin typeface="Calibri"/>
              </a:rPr>
              <a:t> but pays the highest price — and </a:t>
            </a:r>
            <a:r>
              <a:rPr sz="2800" b="1">
                <a:solidFill>
                  <a:srgbClr val="D97706"/>
                </a:solidFill>
                <a:latin typeface="Calibri"/>
              </a:rPr>
              <a:t>pure clean-energy already failed us</a:t>
            </a:r>
            <a:r>
              <a:rPr sz="2800">
                <a:solidFill>
                  <a:srgbClr val="4B5563"/>
                </a:solidFill>
                <a:latin typeface="Calibri"/>
              </a:rPr>
              <a:t> in last year's drought.</a:t>
            </a:r>
          </a:p>
        </p:txBody>
      </p:sp>
      <p:sp>
        <p:nvSpPr>
          <p:cNvPr id="7" name="TextBox 6"/>
          <p:cNvSpPr txBox="1"/>
          <p:nvPr/>
        </p:nvSpPr>
        <p:spPr>
          <a:xfrm>
            <a:off x="822960" y="4023360"/>
            <a:ext cx="10515600" cy="1828800"/>
          </a:xfrm>
          <a:prstGeom prst="rect">
            <a:avLst/>
          </a:prstGeom>
          <a:noFill/>
        </p:spPr>
        <p:txBody>
          <a:bodyPr wrap="square" lIns="0" rIns="0" tIns="0" bIns="0" anchor="t">
            <a:spAutoFit/>
          </a:bodyPr>
          <a:lstStyle/>
          <a:p>
            <a:pPr algn="l"/>
            <a:r>
              <a:rPr sz="4000" b="1">
                <a:solidFill>
                  <a:srgbClr val="1F4E79"/>
                </a:solidFill>
                <a:latin typeface="Calibri"/>
              </a:rPr>
              <a:t>The honest path forward is a managed transition,
not abandonment.</a:t>
            </a:r>
          </a:p>
        </p:txBody>
      </p:sp>
      <p:sp>
        <p:nvSpPr>
          <p:cNvPr id="8" name="Oval 7"/>
          <p:cNvSpPr/>
          <p:nvPr/>
        </p:nvSpPr>
        <p:spPr>
          <a:xfrm>
            <a:off x="10972800" y="59436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082528" y="941832"/>
            <a:ext cx="512063"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320272" y="941832"/>
            <a:ext cx="36576"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2" name="TextBox 11"/>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SITUATION  •  WHAT I ARGUED LAST WEEK</a:t>
            </a:r>
          </a:p>
        </p:txBody>
      </p:sp>
      <p:sp>
        <p:nvSpPr>
          <p:cNvPr id="5" name="TextBox 4"/>
          <p:cNvSpPr txBox="1"/>
          <p:nvPr/>
        </p:nvSpPr>
        <p:spPr>
          <a:xfrm>
            <a:off x="548640" y="1097280"/>
            <a:ext cx="11064240" cy="1097280"/>
          </a:xfrm>
          <a:prstGeom prst="rect">
            <a:avLst/>
          </a:prstGeom>
          <a:noFill/>
        </p:spPr>
        <p:txBody>
          <a:bodyPr wrap="square" lIns="0" rIns="0" tIns="0" bIns="0" anchor="t">
            <a:spAutoFit/>
          </a:bodyPr>
          <a:lstStyle/>
          <a:p>
            <a:pPr algn="l"/>
            <a:r>
              <a:rPr sz="2400" b="1">
                <a:solidFill>
                  <a:srgbClr val="1F2937"/>
                </a:solidFill>
                <a:latin typeface="Calibri"/>
              </a:rPr>
              <a:t>Last week, the case was: fossil fuels drive climate change,
climate change kills, therefore — cut fossil fuels.</a:t>
            </a:r>
          </a:p>
        </p:txBody>
      </p:sp>
      <p:sp>
        <p:nvSpPr>
          <p:cNvPr id="6" name="Rounded Rectangle 5"/>
          <p:cNvSpPr/>
          <p:nvPr/>
        </p:nvSpPr>
        <p:spPr>
          <a:xfrm>
            <a:off x="548640" y="2743200"/>
            <a:ext cx="3520440" cy="310896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743200"/>
            <a:ext cx="164592" cy="3108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304495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40003" y="3325855"/>
            <a:ext cx="497433" cy="234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7015" y="3088843"/>
            <a:ext cx="23408" cy="49743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3063240"/>
            <a:ext cx="2240280" cy="914400"/>
          </a:xfrm>
          <a:prstGeom prst="rect">
            <a:avLst/>
          </a:prstGeom>
          <a:noFill/>
        </p:spPr>
        <p:txBody>
          <a:bodyPr wrap="square" lIns="0" rIns="0" tIns="0" bIns="0" anchor="t">
            <a:spAutoFit/>
          </a:bodyPr>
          <a:lstStyle/>
          <a:p>
            <a:pPr algn="l"/>
            <a:r>
              <a:rPr sz="1500" b="1">
                <a:solidFill>
                  <a:srgbClr val="1F2937"/>
                </a:solidFill>
                <a:latin typeface="Calibri"/>
              </a:rPr>
              <a:t>CO₂ at record highs</a:t>
            </a:r>
          </a:p>
        </p:txBody>
      </p:sp>
      <p:sp>
        <p:nvSpPr>
          <p:cNvPr id="12" name="TextBox 11"/>
          <p:cNvSpPr txBox="1"/>
          <p:nvPr/>
        </p:nvSpPr>
        <p:spPr>
          <a:xfrm>
            <a:off x="914400" y="4297680"/>
            <a:ext cx="2971800" cy="1371600"/>
          </a:xfrm>
          <a:prstGeom prst="rect">
            <a:avLst/>
          </a:prstGeom>
          <a:noFill/>
        </p:spPr>
        <p:txBody>
          <a:bodyPr wrap="square" lIns="0" rIns="0" tIns="0" bIns="0" anchor="t">
            <a:spAutoFit/>
          </a:bodyPr>
          <a:lstStyle/>
          <a:p>
            <a:pPr algn="l"/>
            <a:r>
              <a:rPr sz="1250" b="0">
                <a:solidFill>
                  <a:srgbClr val="4B5563"/>
                </a:solidFill>
                <a:latin typeface="Calibri"/>
              </a:rPr>
              <a:t>Fossil fuels = ~90% of human CO₂ emissions.</a:t>
            </a:r>
          </a:p>
        </p:txBody>
      </p:sp>
      <p:sp>
        <p:nvSpPr>
          <p:cNvPr id="13" name="Rounded Rectangle 12"/>
          <p:cNvSpPr/>
          <p:nvPr/>
        </p:nvSpPr>
        <p:spPr>
          <a:xfrm>
            <a:off x="4343400" y="2743200"/>
            <a:ext cx="3520440" cy="310896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743200"/>
            <a:ext cx="164592" cy="310896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90872" y="3015691"/>
            <a:ext cx="585216" cy="643737"/>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51806" y="3220516"/>
            <a:ext cx="263347" cy="351129"/>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0" y="3063240"/>
            <a:ext cx="2240280" cy="914400"/>
          </a:xfrm>
          <a:prstGeom prst="rect">
            <a:avLst/>
          </a:prstGeom>
          <a:noFill/>
        </p:spPr>
        <p:txBody>
          <a:bodyPr wrap="square" lIns="0" rIns="0" tIns="0" bIns="0" anchor="t">
            <a:spAutoFit/>
          </a:bodyPr>
          <a:lstStyle/>
          <a:p>
            <a:pPr algn="l"/>
            <a:r>
              <a:rPr sz="1500" b="1">
                <a:solidFill>
                  <a:srgbClr val="1F2937"/>
                </a:solidFill>
                <a:latin typeface="Calibri"/>
              </a:rPr>
              <a:t>Rising temperature,
rising disasters</a:t>
            </a:r>
          </a:p>
        </p:txBody>
      </p:sp>
      <p:sp>
        <p:nvSpPr>
          <p:cNvPr id="18" name="TextBox 17"/>
          <p:cNvSpPr txBox="1"/>
          <p:nvPr/>
        </p:nvSpPr>
        <p:spPr>
          <a:xfrm>
            <a:off x="4709160" y="4297680"/>
            <a:ext cx="2971800" cy="1371600"/>
          </a:xfrm>
          <a:prstGeom prst="rect">
            <a:avLst/>
          </a:prstGeom>
          <a:noFill/>
        </p:spPr>
        <p:txBody>
          <a:bodyPr wrap="square" lIns="0" rIns="0" tIns="0" bIns="0" anchor="t">
            <a:spAutoFit/>
          </a:bodyPr>
          <a:lstStyle/>
          <a:p>
            <a:pPr algn="l"/>
            <a:r>
              <a:rPr sz="1250" b="0">
                <a:solidFill>
                  <a:srgbClr val="4B5563"/>
                </a:solidFill>
                <a:latin typeface="Calibri"/>
              </a:rPr>
              <a:t>98% chance one of the next five years
will be the warmest on record.</a:t>
            </a:r>
          </a:p>
        </p:txBody>
      </p:sp>
      <p:sp>
        <p:nvSpPr>
          <p:cNvPr id="19" name="Rounded Rectangle 18"/>
          <p:cNvSpPr/>
          <p:nvPr/>
        </p:nvSpPr>
        <p:spPr>
          <a:xfrm>
            <a:off x="8138160" y="2743200"/>
            <a:ext cx="3520440" cy="310896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2743200"/>
            <a:ext cx="164592" cy="3108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85632" y="3044952"/>
            <a:ext cx="585216" cy="5852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8631936" y="3118104"/>
            <a:ext cx="292608" cy="438912"/>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81160" y="3063240"/>
            <a:ext cx="2240280" cy="914400"/>
          </a:xfrm>
          <a:prstGeom prst="rect">
            <a:avLst/>
          </a:prstGeom>
          <a:noFill/>
        </p:spPr>
        <p:txBody>
          <a:bodyPr wrap="square" lIns="0" rIns="0" tIns="0" bIns="0" anchor="t">
            <a:spAutoFit/>
          </a:bodyPr>
          <a:lstStyle/>
          <a:p>
            <a:pPr algn="l"/>
            <a:r>
              <a:rPr sz="1500" b="1">
                <a:solidFill>
                  <a:srgbClr val="1F2937"/>
                </a:solidFill>
                <a:latin typeface="Calibri"/>
              </a:rPr>
              <a:t>Original conclusion</a:t>
            </a:r>
          </a:p>
        </p:txBody>
      </p:sp>
      <p:sp>
        <p:nvSpPr>
          <p:cNvPr id="24" name="TextBox 23"/>
          <p:cNvSpPr txBox="1"/>
          <p:nvPr/>
        </p:nvSpPr>
        <p:spPr>
          <a:xfrm>
            <a:off x="8503920" y="4297680"/>
            <a:ext cx="2971800" cy="1371600"/>
          </a:xfrm>
          <a:prstGeom prst="rect">
            <a:avLst/>
          </a:prstGeom>
          <a:noFill/>
        </p:spPr>
        <p:txBody>
          <a:bodyPr wrap="square" lIns="0" rIns="0" tIns="0" bIns="0" anchor="t">
            <a:spAutoFit/>
          </a:bodyPr>
          <a:lstStyle/>
          <a:p>
            <a:pPr algn="l"/>
            <a:r>
              <a:rPr sz="1250" b="0">
                <a:solidFill>
                  <a:srgbClr val="4B5563"/>
                </a:solidFill>
                <a:latin typeface="Calibri"/>
              </a:rPr>
              <a:t>Reduce emissions and restore forests.</a:t>
            </a:r>
          </a:p>
        </p:txBody>
      </p:sp>
      <p:sp>
        <p:nvSpPr>
          <p:cNvPr id="25" name="TextBox 24"/>
          <p:cNvSpPr txBox="1"/>
          <p:nvPr/>
        </p:nvSpPr>
        <p:spPr>
          <a:xfrm>
            <a:off x="548640" y="6080760"/>
            <a:ext cx="10972800" cy="365760"/>
          </a:xfrm>
          <a:prstGeom prst="rect">
            <a:avLst/>
          </a:prstGeom>
          <a:noFill/>
        </p:spPr>
        <p:txBody>
          <a:bodyPr wrap="square" lIns="0" rIns="0" tIns="0" bIns="0" anchor="t">
            <a:spAutoFit/>
          </a:bodyPr>
          <a:lstStyle/>
          <a:p>
            <a:pPr algn="l"/>
            <a:r>
              <a:rPr sz="1300" b="0">
                <a:solidFill>
                  <a:srgbClr val="4B5563"/>
                </a:solidFill>
                <a:latin typeface="Calibri"/>
              </a:rPr>
              <a:t>I stand by the data. What follows is what that deck didn't show.</a:t>
            </a:r>
          </a:p>
        </p:txBody>
      </p:sp>
      <p:sp>
        <p:nvSpPr>
          <p:cNvPr id="26" name="TextBox 25"/>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7" name="TextBox 26"/>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COMPLICATION  •  THE PRESENT-DAY DEATH TOLL</a:t>
            </a:r>
          </a:p>
        </p:txBody>
      </p:sp>
      <p:sp>
        <p:nvSpPr>
          <p:cNvPr id="5" name="TextBox 4"/>
          <p:cNvSpPr txBox="1"/>
          <p:nvPr/>
        </p:nvSpPr>
        <p:spPr>
          <a:xfrm>
            <a:off x="548640" y="1005840"/>
            <a:ext cx="11064240" cy="1188720"/>
          </a:xfrm>
          <a:prstGeom prst="rect">
            <a:avLst/>
          </a:prstGeom>
          <a:noFill/>
        </p:spPr>
        <p:txBody>
          <a:bodyPr wrap="square" lIns="0" rIns="0" tIns="0" bIns="0" anchor="t">
            <a:spAutoFit/>
          </a:bodyPr>
          <a:lstStyle/>
          <a:p>
            <a:pPr algn="l"/>
            <a:r>
              <a:rPr sz="2300" b="1">
                <a:solidFill>
                  <a:srgbClr val="1F2937"/>
                </a:solidFill>
                <a:latin typeface="Calibri"/>
              </a:rPr>
              <a:t>Cooking smoke kills ~3.2 million people every year —
most in homes that have no clean fuel.</a:t>
            </a:r>
          </a:p>
        </p:txBody>
      </p:sp>
      <p:pic>
        <p:nvPicPr>
          <p:cNvPr id="6" name="Picture 5" descr="deaths_per_year.png"/>
          <p:cNvPicPr>
            <a:picLocks noChangeAspect="1"/>
          </p:cNvPicPr>
          <p:nvPr/>
        </p:nvPicPr>
        <p:blipFill>
          <a:blip r:embed="rId2"/>
          <a:stretch>
            <a:fillRect/>
          </a:stretch>
        </p:blipFill>
        <p:spPr>
          <a:xfrm>
            <a:off x="548640" y="2926080"/>
            <a:ext cx="7863840" cy="2274325"/>
          </a:xfrm>
          <a:prstGeom prst="rect">
            <a:avLst/>
          </a:prstGeom>
        </p:spPr>
      </p:pic>
      <p:sp>
        <p:nvSpPr>
          <p:cNvPr id="7" name="Rounded Rectangle 6"/>
          <p:cNvSpPr/>
          <p:nvPr/>
        </p:nvSpPr>
        <p:spPr>
          <a:xfrm>
            <a:off x="8686800" y="2926080"/>
            <a:ext cx="3108960" cy="2926080"/>
          </a:xfrm>
          <a:prstGeom prst="roundRect">
            <a:avLst>
              <a:gd name="adj" fmla="val 10000"/>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15400" y="3108960"/>
            <a:ext cx="2743200" cy="457200"/>
          </a:xfrm>
          <a:prstGeom prst="rect">
            <a:avLst/>
          </a:prstGeom>
          <a:noFill/>
        </p:spPr>
        <p:txBody>
          <a:bodyPr wrap="square" lIns="0" rIns="0" tIns="0" bIns="0" anchor="t">
            <a:spAutoFit/>
          </a:bodyPr>
          <a:lstStyle/>
          <a:p>
            <a:pPr algn="l"/>
            <a:r>
              <a:rPr sz="1000" b="1">
                <a:solidFill>
                  <a:srgbClr val="D97706"/>
                </a:solidFill>
                <a:latin typeface="Calibri"/>
              </a:rPr>
              <a:t>WHAT MY FIRST</a:t>
            </a:r>
          </a:p>
        </p:txBody>
      </p:sp>
      <p:sp>
        <p:nvSpPr>
          <p:cNvPr id="9" name="TextBox 8"/>
          <p:cNvSpPr txBox="1"/>
          <p:nvPr/>
        </p:nvSpPr>
        <p:spPr>
          <a:xfrm>
            <a:off x="8915400" y="3337560"/>
            <a:ext cx="2743200" cy="457200"/>
          </a:xfrm>
          <a:prstGeom prst="rect">
            <a:avLst/>
          </a:prstGeom>
          <a:noFill/>
        </p:spPr>
        <p:txBody>
          <a:bodyPr wrap="square" lIns="0" rIns="0" tIns="0" bIns="0" anchor="t">
            <a:spAutoFit/>
          </a:bodyPr>
          <a:lstStyle/>
          <a:p>
            <a:pPr algn="l"/>
            <a:r>
              <a:rPr sz="1000" b="1">
                <a:solidFill>
                  <a:srgbClr val="D97706"/>
                </a:solidFill>
                <a:latin typeface="Calibri"/>
              </a:rPr>
              <a:t>DECK LEFT OUT</a:t>
            </a:r>
          </a:p>
        </p:txBody>
      </p:sp>
      <p:sp>
        <p:nvSpPr>
          <p:cNvPr id="10" name="TextBox 9"/>
          <p:cNvSpPr txBox="1"/>
          <p:nvPr/>
        </p:nvSpPr>
        <p:spPr>
          <a:xfrm>
            <a:off x="8915400" y="3886200"/>
            <a:ext cx="2743200" cy="640080"/>
          </a:xfrm>
          <a:prstGeom prst="rect">
            <a:avLst/>
          </a:prstGeom>
          <a:noFill/>
        </p:spPr>
        <p:txBody>
          <a:bodyPr wrap="square" lIns="0" rIns="0" tIns="0" bIns="0" anchor="t">
            <a:spAutoFit/>
          </a:bodyPr>
          <a:lstStyle/>
          <a:p>
            <a:pPr algn="l"/>
            <a:r>
              <a:rPr sz="3200" b="1">
                <a:solidFill>
                  <a:srgbClr val="D97706"/>
                </a:solidFill>
                <a:latin typeface="Calibri"/>
              </a:rPr>
              <a:t>815,000</a:t>
            </a:r>
          </a:p>
        </p:txBody>
      </p:sp>
      <p:sp>
        <p:nvSpPr>
          <p:cNvPr id="11" name="TextBox 10"/>
          <p:cNvSpPr txBox="1"/>
          <p:nvPr/>
        </p:nvSpPr>
        <p:spPr>
          <a:xfrm>
            <a:off x="8915400" y="4526280"/>
            <a:ext cx="2743200" cy="457200"/>
          </a:xfrm>
          <a:prstGeom prst="rect">
            <a:avLst/>
          </a:prstGeom>
          <a:noFill/>
        </p:spPr>
        <p:txBody>
          <a:bodyPr wrap="square" lIns="0" rIns="0" tIns="0" bIns="0" anchor="t">
            <a:spAutoFit/>
          </a:bodyPr>
          <a:lstStyle/>
          <a:p>
            <a:pPr algn="l"/>
            <a:r>
              <a:rPr sz="1200" b="0">
                <a:solidFill>
                  <a:srgbClr val="1F2937"/>
                </a:solidFill>
                <a:latin typeface="Calibri"/>
              </a:rPr>
              <a:t>deaths in sub-Saharan</a:t>
            </a:r>
          </a:p>
        </p:txBody>
      </p:sp>
      <p:sp>
        <p:nvSpPr>
          <p:cNvPr id="12" name="TextBox 11"/>
          <p:cNvSpPr txBox="1"/>
          <p:nvPr/>
        </p:nvSpPr>
        <p:spPr>
          <a:xfrm>
            <a:off x="8915400" y="4754880"/>
            <a:ext cx="2743200" cy="457200"/>
          </a:xfrm>
          <a:prstGeom prst="rect">
            <a:avLst/>
          </a:prstGeom>
          <a:noFill/>
        </p:spPr>
        <p:txBody>
          <a:bodyPr wrap="square" lIns="0" rIns="0" tIns="0" bIns="0" anchor="t">
            <a:spAutoFit/>
          </a:bodyPr>
          <a:lstStyle/>
          <a:p>
            <a:pPr algn="l"/>
            <a:r>
              <a:rPr sz="1200" b="0">
                <a:solidFill>
                  <a:srgbClr val="1F2937"/>
                </a:solidFill>
                <a:latin typeface="Calibri"/>
              </a:rPr>
              <a:t>Africa, every year.</a:t>
            </a:r>
          </a:p>
        </p:txBody>
      </p:sp>
      <p:sp>
        <p:nvSpPr>
          <p:cNvPr id="13" name="TextBox 12"/>
          <p:cNvSpPr txBox="1"/>
          <p:nvPr/>
        </p:nvSpPr>
        <p:spPr>
          <a:xfrm>
            <a:off x="8915400" y="5212080"/>
            <a:ext cx="2743200" cy="457200"/>
          </a:xfrm>
          <a:prstGeom prst="rect">
            <a:avLst/>
          </a:prstGeom>
          <a:noFill/>
        </p:spPr>
        <p:txBody>
          <a:bodyPr wrap="square" lIns="0" rIns="0" tIns="0" bIns="0" anchor="t">
            <a:spAutoFit/>
          </a:bodyPr>
          <a:lstStyle/>
          <a:p>
            <a:pPr algn="l"/>
            <a:r>
              <a:rPr sz="1100" b="0">
                <a:solidFill>
                  <a:srgbClr val="4B5563"/>
                </a:solidFill>
                <a:latin typeface="Calibri"/>
              </a:rPr>
              <a:t>From a problem we already know
how to solve: clean fuel.</a:t>
            </a:r>
          </a:p>
        </p:txBody>
      </p:sp>
      <p:sp>
        <p:nvSpPr>
          <p:cNvPr id="14" name="TextBox 13"/>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5" name="TextBox 14"/>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COMPLICATION  •  THE JUSTICE ASYMMETRY</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100" b="1">
                <a:solidFill>
                  <a:srgbClr val="1F2937"/>
                </a:solidFill>
                <a:latin typeface="Calibri"/>
              </a:rPr>
              <a:t>Africa hosts 17% of the world's people, caused under 3% of cumulative
emissions — and is being asked to skip the ladder every wealthy country climbed.</a:t>
            </a:r>
          </a:p>
        </p:txBody>
      </p:sp>
      <p:pic>
        <p:nvPicPr>
          <p:cNvPr id="6" name="Picture 5" descr="africa_asymmetry.png"/>
          <p:cNvPicPr>
            <a:picLocks noChangeAspect="1"/>
          </p:cNvPicPr>
          <p:nvPr/>
        </p:nvPicPr>
        <p:blipFill>
          <a:blip r:embed="rId2"/>
          <a:stretch>
            <a:fillRect/>
          </a:stretch>
        </p:blipFill>
        <p:spPr>
          <a:xfrm>
            <a:off x="365760" y="2651760"/>
            <a:ext cx="11430000" cy="2230367"/>
          </a:xfrm>
          <a:prstGeom prst="rect">
            <a:avLst/>
          </a:prstGeom>
        </p:spPr>
      </p:pic>
      <p:sp>
        <p:nvSpPr>
          <p:cNvPr id="7" name="Rounded Rectangle 6"/>
          <p:cNvSpPr/>
          <p:nvPr/>
        </p:nvSpPr>
        <p:spPr>
          <a:xfrm>
            <a:off x="548640" y="5440680"/>
            <a:ext cx="11064240" cy="86868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577840"/>
            <a:ext cx="10515600" cy="365760"/>
          </a:xfrm>
          <a:prstGeom prst="rect">
            <a:avLst/>
          </a:prstGeom>
          <a:noFill/>
        </p:spPr>
        <p:txBody>
          <a:bodyPr wrap="square" lIns="0" rIns="0" tIns="0" bIns="0" anchor="t">
            <a:spAutoFit/>
          </a:bodyPr>
          <a:lstStyle/>
          <a:p>
            <a:pPr algn="l"/>
            <a:r>
              <a:rPr sz="1400" b="1">
                <a:solidFill>
                  <a:srgbClr val="1F4E79"/>
                </a:solidFill>
                <a:latin typeface="Calibri"/>
              </a:rPr>
              <a:t>Every wealthy country got rich by burning coal, then oil, then gas.</a:t>
            </a:r>
          </a:p>
        </p:txBody>
      </p:sp>
      <p:sp>
        <p:nvSpPr>
          <p:cNvPr id="9" name="TextBox 8"/>
          <p:cNvSpPr txBox="1"/>
          <p:nvPr/>
        </p:nvSpPr>
        <p:spPr>
          <a:xfrm>
            <a:off x="868680" y="5897880"/>
            <a:ext cx="10515600" cy="365760"/>
          </a:xfrm>
          <a:prstGeom prst="rect">
            <a:avLst/>
          </a:prstGeom>
          <a:noFill/>
        </p:spPr>
        <p:txBody>
          <a:bodyPr wrap="square" lIns="0" rIns="0" tIns="0" bIns="0" anchor="t">
            <a:spAutoFit/>
          </a:bodyPr>
          <a:lstStyle/>
          <a:p>
            <a:pPr algn="l"/>
            <a:r>
              <a:rPr sz="1200" b="0">
                <a:solidFill>
                  <a:srgbClr val="4B5563"/>
                </a:solidFill>
                <a:latin typeface="Calibri"/>
              </a:rPr>
              <a:t>Even the clean-energy supply chain itself — steel, cement, shipping — still runs on fossil fuels today.</a:t>
            </a:r>
          </a:p>
        </p:txBody>
      </p:sp>
      <p:sp>
        <p:nvSpPr>
          <p:cNvPr id="10" name="TextBox 9"/>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1" name="TextBox 10"/>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COMPLICATION  •  THE ZAMBIA LESSON</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Zambia bet 85% of its grid on "clean" hydropower —
and a climate-driven drought left us in the dark for 21 hours a day.</a:t>
            </a:r>
          </a:p>
        </p:txBody>
      </p:sp>
      <p:pic>
        <p:nvPicPr>
          <p:cNvPr id="6" name="Picture 5" descr="zambia_mix.png"/>
          <p:cNvPicPr>
            <a:picLocks noChangeAspect="1"/>
          </p:cNvPicPr>
          <p:nvPr/>
        </p:nvPicPr>
        <p:blipFill>
          <a:blip r:embed="rId2"/>
          <a:stretch>
            <a:fillRect/>
          </a:stretch>
        </p:blipFill>
        <p:spPr>
          <a:xfrm>
            <a:off x="365760" y="2377440"/>
            <a:ext cx="6858000" cy="5531087"/>
          </a:xfrm>
          <a:prstGeom prst="rect">
            <a:avLst/>
          </a:prstGeom>
        </p:spPr>
      </p:pic>
      <p:sp>
        <p:nvSpPr>
          <p:cNvPr id="7" name="Rounded Rectangle 6"/>
          <p:cNvSpPr/>
          <p:nvPr/>
        </p:nvSpPr>
        <p:spPr>
          <a:xfrm>
            <a:off x="7680960" y="2468880"/>
            <a:ext cx="4114800" cy="1554480"/>
          </a:xfrm>
          <a:prstGeom prst="roundRect">
            <a:avLst>
              <a:gd name="adj" fmla="val 10000"/>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0" y="2606040"/>
            <a:ext cx="3566160" cy="365760"/>
          </a:xfrm>
          <a:prstGeom prst="rect">
            <a:avLst/>
          </a:prstGeom>
          <a:noFill/>
        </p:spPr>
        <p:txBody>
          <a:bodyPr wrap="square" lIns="0" rIns="0" tIns="0" bIns="0" anchor="t">
            <a:spAutoFit/>
          </a:bodyPr>
          <a:lstStyle/>
          <a:p>
            <a:pPr algn="l"/>
            <a:r>
              <a:rPr sz="1100" b="1">
                <a:solidFill>
                  <a:srgbClr val="D97706"/>
                </a:solidFill>
                <a:latin typeface="Calibri"/>
              </a:rPr>
              <a:t>THE BET</a:t>
            </a:r>
          </a:p>
        </p:txBody>
      </p:sp>
      <p:sp>
        <p:nvSpPr>
          <p:cNvPr id="9" name="TextBox 8"/>
          <p:cNvSpPr txBox="1"/>
          <p:nvPr/>
        </p:nvSpPr>
        <p:spPr>
          <a:xfrm>
            <a:off x="7955280" y="2926080"/>
            <a:ext cx="3566160" cy="1097280"/>
          </a:xfrm>
          <a:prstGeom prst="rect">
            <a:avLst/>
          </a:prstGeom>
          <a:noFill/>
        </p:spPr>
        <p:txBody>
          <a:bodyPr wrap="square" lIns="0" rIns="0" tIns="0" bIns="0" anchor="t">
            <a:spAutoFit/>
          </a:bodyPr>
          <a:lstStyle/>
          <a:p>
            <a:pPr algn="l"/>
            <a:r>
              <a:rPr sz="1800" b="1">
                <a:solidFill>
                  <a:srgbClr val="1F2937"/>
                </a:solidFill>
                <a:latin typeface="Calibri"/>
              </a:rPr>
              <a:t>85% of installed capacity
is hydropower.</a:t>
            </a:r>
          </a:p>
        </p:txBody>
      </p:sp>
      <p:sp>
        <p:nvSpPr>
          <p:cNvPr id="10" name="Rounded Rectangle 9"/>
          <p:cNvSpPr/>
          <p:nvPr/>
        </p:nvSpPr>
        <p:spPr>
          <a:xfrm>
            <a:off x="7680960" y="4160520"/>
            <a:ext cx="4114800" cy="1554480"/>
          </a:xfrm>
          <a:prstGeom prst="roundRect">
            <a:avLst>
              <a:gd name="adj" fmla="val 10000"/>
            </a:avLst>
          </a:prstGeom>
          <a:solidFill>
            <a:srgbClr val="DBE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4297680"/>
            <a:ext cx="3566160" cy="365760"/>
          </a:xfrm>
          <a:prstGeom prst="rect">
            <a:avLst/>
          </a:prstGeom>
          <a:noFill/>
        </p:spPr>
        <p:txBody>
          <a:bodyPr wrap="square" lIns="0" rIns="0" tIns="0" bIns="0" anchor="t">
            <a:spAutoFit/>
          </a:bodyPr>
          <a:lstStyle/>
          <a:p>
            <a:pPr algn="l"/>
            <a:r>
              <a:rPr sz="1100" b="1">
                <a:solidFill>
                  <a:srgbClr val="1F4E79"/>
                </a:solidFill>
                <a:latin typeface="Calibri"/>
              </a:rPr>
              <a:t>THE LESSON</a:t>
            </a:r>
          </a:p>
        </p:txBody>
      </p:sp>
      <p:sp>
        <p:nvSpPr>
          <p:cNvPr id="12" name="TextBox 11"/>
          <p:cNvSpPr txBox="1"/>
          <p:nvPr/>
        </p:nvSpPr>
        <p:spPr>
          <a:xfrm>
            <a:off x="7955280" y="4617720"/>
            <a:ext cx="3566160" cy="1097280"/>
          </a:xfrm>
          <a:prstGeom prst="rect">
            <a:avLst/>
          </a:prstGeom>
          <a:noFill/>
        </p:spPr>
        <p:txBody>
          <a:bodyPr wrap="square" lIns="0" rIns="0" tIns="0" bIns="0" anchor="t">
            <a:spAutoFit/>
          </a:bodyPr>
          <a:lstStyle/>
          <a:p>
            <a:pPr algn="l"/>
            <a:r>
              <a:rPr sz="1300" b="0">
                <a:solidFill>
                  <a:srgbClr val="1F2937"/>
                </a:solidFill>
                <a:latin typeface="Calibri"/>
              </a:rPr>
              <a:t>Firm, dispatchable power matters.
Pretending otherwise is paid for in dark hospitals.</a:t>
            </a:r>
          </a:p>
        </p:txBody>
      </p:sp>
      <p:sp>
        <p:nvSpPr>
          <p:cNvPr id="13" name="TextBox 12"/>
          <p:cNvSpPr txBox="1"/>
          <p:nvPr/>
        </p:nvSpPr>
        <p:spPr>
          <a:xfrm>
            <a:off x="548640" y="6080760"/>
            <a:ext cx="10972800" cy="365760"/>
          </a:xfrm>
          <a:prstGeom prst="rect">
            <a:avLst/>
          </a:prstGeom>
          <a:noFill/>
        </p:spPr>
        <p:txBody>
          <a:bodyPr wrap="square" lIns="0" rIns="0" tIns="0" bIns="0" anchor="t">
            <a:spAutoFit/>
          </a:bodyPr>
          <a:lstStyle/>
          <a:p>
            <a:pPr algn="l"/>
            <a:r>
              <a:rPr sz="1300" b="0">
                <a:solidFill>
                  <a:srgbClr val="4B5563"/>
                </a:solidFill>
                <a:latin typeface="Calibri"/>
              </a:rPr>
              <a:t>The answer isn't "burn more coal." It's "don't bet the grid on one weather pattern."</a:t>
            </a:r>
          </a:p>
        </p:txBody>
      </p:sp>
      <p:sp>
        <p:nvSpPr>
          <p:cNvPr id="14" name="TextBox 13"/>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15" name="TextBox 14"/>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D97706"/>
                </a:solidFill>
                <a:latin typeface="Calibri"/>
              </a:rPr>
              <a:t>BRIDGE  •  WHAT ENERGY ACCESS BUYS</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Below ~3,000 kWh per person per year, every extra kWh
buys life-years. Zambia sits right on the steep part of the curve.</a:t>
            </a:r>
          </a:p>
        </p:txBody>
      </p:sp>
      <p:pic>
        <p:nvPicPr>
          <p:cNvPr id="6" name="Picture 5" descr="energy_life.png"/>
          <p:cNvPicPr>
            <a:picLocks noChangeAspect="1"/>
          </p:cNvPicPr>
          <p:nvPr/>
        </p:nvPicPr>
        <p:blipFill>
          <a:blip r:embed="rId2"/>
          <a:stretch>
            <a:fillRect/>
          </a:stretch>
        </p:blipFill>
        <p:spPr>
          <a:xfrm>
            <a:off x="548640" y="2560320"/>
            <a:ext cx="11064240" cy="5988850"/>
          </a:xfrm>
          <a:prstGeom prst="rect">
            <a:avLst/>
          </a:prstGeom>
        </p:spPr>
      </p:pic>
      <p:sp>
        <p:nvSpPr>
          <p:cNvPr id="7" name="TextBox 6"/>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8" name="TextBox 7"/>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RESOLUTION  •  THE MANAGED TRANSITION</a:t>
            </a:r>
          </a:p>
        </p:txBody>
      </p:sp>
      <p:sp>
        <p:nvSpPr>
          <p:cNvPr id="5" name="TextBox 4"/>
          <p:cNvSpPr txBox="1"/>
          <p:nvPr/>
        </p:nvSpPr>
        <p:spPr>
          <a:xfrm>
            <a:off x="548640" y="1005840"/>
            <a:ext cx="11064240" cy="1280160"/>
          </a:xfrm>
          <a:prstGeom prst="rect">
            <a:avLst/>
          </a:prstGeom>
          <a:noFill/>
        </p:spPr>
        <p:txBody>
          <a:bodyPr wrap="square" lIns="0" rIns="0" tIns="0" bIns="0" anchor="t">
            <a:spAutoFit/>
          </a:bodyPr>
          <a:lstStyle/>
          <a:p>
            <a:pPr algn="l"/>
            <a:r>
              <a:rPr sz="2200" b="1">
                <a:solidFill>
                  <a:srgbClr val="1F2937"/>
                </a:solidFill>
                <a:latin typeface="Calibri"/>
              </a:rPr>
              <a:t>Gas as a bridge, renewables stacked on top, firm power kept
until storage can carry the load — in that order.</a:t>
            </a:r>
          </a:p>
        </p:txBody>
      </p:sp>
      <p:sp>
        <p:nvSpPr>
          <p:cNvPr id="6" name="Rounded Rectangle 5"/>
          <p:cNvSpPr/>
          <p:nvPr/>
        </p:nvSpPr>
        <p:spPr>
          <a:xfrm>
            <a:off x="548640" y="2743200"/>
            <a:ext cx="3611880" cy="329184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37560" y="2894076"/>
            <a:ext cx="640080" cy="7040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13582" y="3118104"/>
            <a:ext cx="288036" cy="384048"/>
          </a:xfrm>
          <a:prstGeom prst="ellipse">
            <a:avLst/>
          </a:prstGeom>
          <a:solidFill>
            <a:srgbClr val="FDE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063240"/>
            <a:ext cx="2331720" cy="365760"/>
          </a:xfrm>
          <a:prstGeom prst="rect">
            <a:avLst/>
          </a:prstGeom>
          <a:noFill/>
        </p:spPr>
        <p:txBody>
          <a:bodyPr wrap="square" lIns="0" rIns="0" tIns="0" bIns="0" anchor="t">
            <a:spAutoFit/>
          </a:bodyPr>
          <a:lstStyle/>
          <a:p>
            <a:pPr algn="l"/>
            <a:r>
              <a:rPr sz="1100" b="1">
                <a:solidFill>
                  <a:srgbClr val="FFFFFF"/>
                </a:solidFill>
                <a:latin typeface="Calibri"/>
              </a:rPr>
              <a:t>NOW — BRIDGE</a:t>
            </a:r>
          </a:p>
        </p:txBody>
      </p:sp>
      <p:sp>
        <p:nvSpPr>
          <p:cNvPr id="10" name="TextBox 9"/>
          <p:cNvSpPr txBox="1"/>
          <p:nvPr/>
        </p:nvSpPr>
        <p:spPr>
          <a:xfrm>
            <a:off x="868680" y="3520440"/>
            <a:ext cx="3063240" cy="640080"/>
          </a:xfrm>
          <a:prstGeom prst="rect">
            <a:avLst/>
          </a:prstGeom>
          <a:noFill/>
        </p:spPr>
        <p:txBody>
          <a:bodyPr wrap="square" lIns="0" rIns="0" tIns="0" bIns="0" anchor="t">
            <a:spAutoFit/>
          </a:bodyPr>
          <a:lstStyle/>
          <a:p>
            <a:pPr algn="l"/>
            <a:r>
              <a:rPr sz="2000" b="1">
                <a:solidFill>
                  <a:srgbClr val="FFFFFF"/>
                </a:solidFill>
                <a:latin typeface="Calibri"/>
              </a:rPr>
              <a:t>Natural gas</a:t>
            </a:r>
          </a:p>
        </p:txBody>
      </p:sp>
      <p:sp>
        <p:nvSpPr>
          <p:cNvPr id="11" name="TextBox 10"/>
          <p:cNvSpPr txBox="1"/>
          <p:nvPr/>
        </p:nvSpPr>
        <p:spPr>
          <a:xfrm>
            <a:off x="868680" y="4389120"/>
            <a:ext cx="3063240" cy="1463040"/>
          </a:xfrm>
          <a:prstGeom prst="rect">
            <a:avLst/>
          </a:prstGeom>
          <a:noFill/>
        </p:spPr>
        <p:txBody>
          <a:bodyPr wrap="square" lIns="0" rIns="0" tIns="0" bIns="0" anchor="t">
            <a:spAutoFit/>
          </a:bodyPr>
          <a:lstStyle/>
          <a:p>
            <a:pPr algn="l"/>
            <a:r>
              <a:rPr sz="1200" b="0">
                <a:solidFill>
                  <a:srgbClr val="FFFFFF"/>
                </a:solidFill>
                <a:latin typeface="Calibri"/>
              </a:rPr>
              <a:t>Emits 50–60% less CO₂ than coal.
Africa holds ~13% of proven gas reserves.
Faster to deploy than nuclear,
firm in a way solar alone is not.</a:t>
            </a:r>
          </a:p>
        </p:txBody>
      </p:sp>
      <p:sp>
        <p:nvSpPr>
          <p:cNvPr id="12" name="Rounded Rectangle 11"/>
          <p:cNvSpPr/>
          <p:nvPr/>
        </p:nvSpPr>
        <p:spPr>
          <a:xfrm>
            <a:off x="4297680" y="2743200"/>
            <a:ext cx="3611880" cy="329184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0" y="29718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ightning Bolt 13"/>
          <p:cNvSpPr/>
          <p:nvPr/>
        </p:nvSpPr>
        <p:spPr>
          <a:xfrm>
            <a:off x="7269480" y="3040380"/>
            <a:ext cx="274320" cy="41148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3063240"/>
            <a:ext cx="2331720" cy="365760"/>
          </a:xfrm>
          <a:prstGeom prst="rect">
            <a:avLst/>
          </a:prstGeom>
          <a:noFill/>
        </p:spPr>
        <p:txBody>
          <a:bodyPr wrap="square" lIns="0" rIns="0" tIns="0" bIns="0" anchor="t">
            <a:spAutoFit/>
          </a:bodyPr>
          <a:lstStyle/>
          <a:p>
            <a:pPr algn="l"/>
            <a:r>
              <a:rPr sz="1100" b="1">
                <a:solidFill>
                  <a:srgbClr val="1F4E79"/>
                </a:solidFill>
                <a:latin typeface="Calibri"/>
              </a:rPr>
              <a:t>BUILD-OUT</a:t>
            </a:r>
          </a:p>
        </p:txBody>
      </p:sp>
      <p:sp>
        <p:nvSpPr>
          <p:cNvPr id="16" name="TextBox 15"/>
          <p:cNvSpPr txBox="1"/>
          <p:nvPr/>
        </p:nvSpPr>
        <p:spPr>
          <a:xfrm>
            <a:off x="4617720" y="3520440"/>
            <a:ext cx="3063240" cy="640080"/>
          </a:xfrm>
          <a:prstGeom prst="rect">
            <a:avLst/>
          </a:prstGeom>
          <a:noFill/>
        </p:spPr>
        <p:txBody>
          <a:bodyPr wrap="square" lIns="0" rIns="0" tIns="0" bIns="0" anchor="t">
            <a:spAutoFit/>
          </a:bodyPr>
          <a:lstStyle/>
          <a:p>
            <a:pPr algn="l"/>
            <a:r>
              <a:rPr sz="2000" b="1">
                <a:solidFill>
                  <a:srgbClr val="1F2937"/>
                </a:solidFill>
                <a:latin typeface="Calibri"/>
              </a:rPr>
              <a:t>Renewables, hard</a:t>
            </a:r>
          </a:p>
        </p:txBody>
      </p:sp>
      <p:sp>
        <p:nvSpPr>
          <p:cNvPr id="17" name="TextBox 16"/>
          <p:cNvSpPr txBox="1"/>
          <p:nvPr/>
        </p:nvSpPr>
        <p:spPr>
          <a:xfrm>
            <a:off x="4617720" y="4389120"/>
            <a:ext cx="3063240" cy="1463040"/>
          </a:xfrm>
          <a:prstGeom prst="rect">
            <a:avLst/>
          </a:prstGeom>
          <a:noFill/>
        </p:spPr>
        <p:txBody>
          <a:bodyPr wrap="square" lIns="0" rIns="0" tIns="0" bIns="0" anchor="t">
            <a:spAutoFit/>
          </a:bodyPr>
          <a:lstStyle/>
          <a:p>
            <a:pPr algn="l"/>
            <a:r>
              <a:rPr sz="1200" b="0">
                <a:solidFill>
                  <a:srgbClr val="4B5563"/>
                </a:solidFill>
                <a:latin typeface="Calibri"/>
              </a:rPr>
              <a:t>Solar in Zambia is already the
cheapest new capacity.
Wind, hydro diversification,
storage — scaled in parallel,
not waited for.</a:t>
            </a:r>
          </a:p>
        </p:txBody>
      </p:sp>
      <p:sp>
        <p:nvSpPr>
          <p:cNvPr id="18" name="Rounded Rectangle 17"/>
          <p:cNvSpPr/>
          <p:nvPr/>
        </p:nvSpPr>
        <p:spPr>
          <a:xfrm>
            <a:off x="8046720" y="2743200"/>
            <a:ext cx="3611880" cy="3291840"/>
          </a:xfrm>
          <a:prstGeom prst="roundRect">
            <a:avLst>
              <a:gd name="adj" fmla="val 10000"/>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81360" y="29718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22508" y="3235147"/>
            <a:ext cx="466344" cy="2194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144707" y="3012948"/>
            <a:ext cx="21945"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3063240"/>
            <a:ext cx="2331720" cy="365760"/>
          </a:xfrm>
          <a:prstGeom prst="rect">
            <a:avLst/>
          </a:prstGeom>
          <a:noFill/>
        </p:spPr>
        <p:txBody>
          <a:bodyPr wrap="square" lIns="0" rIns="0" tIns="0" bIns="0" anchor="t">
            <a:spAutoFit/>
          </a:bodyPr>
          <a:lstStyle/>
          <a:p>
            <a:pPr algn="l"/>
            <a:r>
              <a:rPr sz="1100" b="1">
                <a:solidFill>
                  <a:srgbClr val="1F4E79"/>
                </a:solidFill>
                <a:latin typeface="Calibri"/>
              </a:rPr>
              <a:t>THEN — RETIRE</a:t>
            </a:r>
          </a:p>
        </p:txBody>
      </p:sp>
      <p:sp>
        <p:nvSpPr>
          <p:cNvPr id="23" name="TextBox 22"/>
          <p:cNvSpPr txBox="1"/>
          <p:nvPr/>
        </p:nvSpPr>
        <p:spPr>
          <a:xfrm>
            <a:off x="8366760" y="3520440"/>
            <a:ext cx="3063240" cy="640080"/>
          </a:xfrm>
          <a:prstGeom prst="rect">
            <a:avLst/>
          </a:prstGeom>
          <a:noFill/>
        </p:spPr>
        <p:txBody>
          <a:bodyPr wrap="square" lIns="0" rIns="0" tIns="0" bIns="0" anchor="t">
            <a:spAutoFit/>
          </a:bodyPr>
          <a:lstStyle/>
          <a:p>
            <a:pPr algn="l"/>
            <a:r>
              <a:rPr sz="2000" b="1">
                <a:solidFill>
                  <a:srgbClr val="1F2937"/>
                </a:solidFill>
                <a:latin typeface="Calibri"/>
              </a:rPr>
              <a:t>Phase fossil fuels down</a:t>
            </a:r>
          </a:p>
        </p:txBody>
      </p:sp>
      <p:sp>
        <p:nvSpPr>
          <p:cNvPr id="24" name="TextBox 23"/>
          <p:cNvSpPr txBox="1"/>
          <p:nvPr/>
        </p:nvSpPr>
        <p:spPr>
          <a:xfrm>
            <a:off x="8366760" y="4389120"/>
            <a:ext cx="3063240" cy="1463040"/>
          </a:xfrm>
          <a:prstGeom prst="rect">
            <a:avLst/>
          </a:prstGeom>
          <a:noFill/>
        </p:spPr>
        <p:txBody>
          <a:bodyPr wrap="square" lIns="0" rIns="0" tIns="0" bIns="0" anchor="t">
            <a:spAutoFit/>
          </a:bodyPr>
          <a:lstStyle/>
          <a:p>
            <a:pPr algn="l"/>
            <a:r>
              <a:rPr sz="1200" b="0">
                <a:solidFill>
                  <a:srgbClr val="4B5563"/>
                </a:solidFill>
                <a:latin typeface="Calibri"/>
              </a:rPr>
              <a:t>When grids are firm and storage can
carry the load, retire gas plants.
Not before. Not as a slogan.
As an engineering schedule.</a:t>
            </a:r>
          </a:p>
        </p:txBody>
      </p:sp>
      <p:sp>
        <p:nvSpPr>
          <p:cNvPr id="25" name="Right Arrow 24"/>
          <p:cNvSpPr/>
          <p:nvPr/>
        </p:nvSpPr>
        <p:spPr>
          <a:xfrm>
            <a:off x="4114800" y="4160520"/>
            <a:ext cx="274320" cy="4114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7863840" y="4160520"/>
            <a:ext cx="274320" cy="4114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28" name="TextBox 27"/>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6072" y="539496"/>
            <a:ext cx="128016" cy="128016"/>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4572000" cy="365760"/>
          </a:xfrm>
          <a:prstGeom prst="rect">
            <a:avLst/>
          </a:prstGeom>
          <a:noFill/>
        </p:spPr>
        <p:txBody>
          <a:bodyPr wrap="square" lIns="0" rIns="0" tIns="0" bIns="0" anchor="t">
            <a:spAutoFit/>
          </a:bodyPr>
          <a:lstStyle/>
          <a:p>
            <a:pPr algn="l"/>
            <a:r>
              <a:rPr sz="1100" b="1">
                <a:solidFill>
                  <a:srgbClr val="1F4E79"/>
                </a:solidFill>
                <a:latin typeface="Calibri"/>
              </a:rPr>
              <a:t>APPENDIX  •  SOURCES</a:t>
            </a:r>
          </a:p>
        </p:txBody>
      </p:sp>
      <p:sp>
        <p:nvSpPr>
          <p:cNvPr id="5" name="TextBox 4"/>
          <p:cNvSpPr txBox="1"/>
          <p:nvPr/>
        </p:nvSpPr>
        <p:spPr>
          <a:xfrm>
            <a:off x="548640" y="1005840"/>
            <a:ext cx="10972800" cy="731520"/>
          </a:xfrm>
          <a:prstGeom prst="rect">
            <a:avLst/>
          </a:prstGeom>
          <a:noFill/>
        </p:spPr>
        <p:txBody>
          <a:bodyPr wrap="square" lIns="0" rIns="0" tIns="0" bIns="0" anchor="t">
            <a:spAutoFit/>
          </a:bodyPr>
          <a:lstStyle/>
          <a:p>
            <a:pPr algn="l"/>
            <a:r>
              <a:rPr sz="2200" b="1">
                <a:solidFill>
                  <a:srgbClr val="1F2937"/>
                </a:solidFill>
                <a:latin typeface="Calibri"/>
              </a:rPr>
              <a:t>Every statistic on every slide, with a citation.</a:t>
            </a:r>
          </a:p>
        </p:txBody>
      </p:sp>
      <p:sp>
        <p:nvSpPr>
          <p:cNvPr id="6" name="TextBox 5"/>
          <p:cNvSpPr txBox="1"/>
          <p:nvPr/>
        </p:nvSpPr>
        <p:spPr>
          <a:xfrm>
            <a:off x="548640" y="1554480"/>
            <a:ext cx="10972800" cy="365760"/>
          </a:xfrm>
          <a:prstGeom prst="rect">
            <a:avLst/>
          </a:prstGeom>
          <a:noFill/>
        </p:spPr>
        <p:txBody>
          <a:bodyPr wrap="square" lIns="0" rIns="0" tIns="0" bIns="0" anchor="t">
            <a:spAutoFit/>
          </a:bodyPr>
          <a:lstStyle/>
          <a:p>
            <a:pPr algn="l"/>
            <a:r>
              <a:rPr sz="1200" b="0">
                <a:solidFill>
                  <a:srgbClr val="4B5563"/>
                </a:solidFill>
                <a:latin typeface="Calibri"/>
              </a:rPr>
              <a:t>Full notes preserved in the repo at  research/notes.md.</a:t>
            </a:r>
          </a:p>
        </p:txBody>
      </p:sp>
      <p:sp>
        <p:nvSpPr>
          <p:cNvPr id="7" name="Oval 6"/>
          <p:cNvSpPr/>
          <p:nvPr/>
        </p:nvSpPr>
        <p:spPr>
          <a:xfrm>
            <a:off x="594360" y="2286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5257800" cy="228600"/>
          </a:xfrm>
          <a:prstGeom prst="rect">
            <a:avLst/>
          </a:prstGeom>
          <a:noFill/>
        </p:spPr>
        <p:txBody>
          <a:bodyPr wrap="square" lIns="0" rIns="0" tIns="0" bIns="0" anchor="t">
            <a:spAutoFit/>
          </a:bodyPr>
          <a:lstStyle/>
          <a:p>
            <a:pPr algn="l"/>
            <a:r>
              <a:rPr sz="1100" b="1">
                <a:solidFill>
                  <a:srgbClr val="1F2937"/>
                </a:solidFill>
                <a:latin typeface="Calibri"/>
              </a:rPr>
              <a:t>Cooking-smoke deaths (~3.2M/yr global)</a:t>
            </a:r>
          </a:p>
        </p:txBody>
      </p:sp>
      <p:sp>
        <p:nvSpPr>
          <p:cNvPr id="9" name="TextBox 8"/>
          <p:cNvSpPr txBox="1"/>
          <p:nvPr/>
        </p:nvSpPr>
        <p:spPr>
          <a:xfrm>
            <a:off x="777240" y="2395728"/>
            <a:ext cx="5257800" cy="228600"/>
          </a:xfrm>
          <a:prstGeom prst="rect">
            <a:avLst/>
          </a:prstGeom>
          <a:noFill/>
        </p:spPr>
        <p:txBody>
          <a:bodyPr wrap="square" lIns="0" rIns="0" tIns="0" bIns="0" anchor="t">
            <a:spAutoFit/>
          </a:bodyPr>
          <a:lstStyle/>
          <a:p>
            <a:pPr algn="l"/>
            <a:r>
              <a:rPr sz="1000" b="0">
                <a:solidFill>
                  <a:srgbClr val="4B5563"/>
                </a:solidFill>
                <a:latin typeface="Calibri"/>
              </a:rPr>
              <a:t>WHO Household Air Pollution Fact Sheet</a:t>
            </a:r>
          </a:p>
        </p:txBody>
      </p:sp>
      <p:sp>
        <p:nvSpPr>
          <p:cNvPr id="10" name="Oval 9"/>
          <p:cNvSpPr/>
          <p:nvPr/>
        </p:nvSpPr>
        <p:spPr>
          <a:xfrm>
            <a:off x="6400800" y="22860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194560"/>
            <a:ext cx="5257800" cy="228600"/>
          </a:xfrm>
          <a:prstGeom prst="rect">
            <a:avLst/>
          </a:prstGeom>
          <a:noFill/>
        </p:spPr>
        <p:txBody>
          <a:bodyPr wrap="square" lIns="0" rIns="0" tIns="0" bIns="0" anchor="t">
            <a:spAutoFit/>
          </a:bodyPr>
          <a:lstStyle/>
          <a:p>
            <a:pPr algn="l"/>
            <a:r>
              <a:rPr sz="1100" b="1">
                <a:solidFill>
                  <a:srgbClr val="1F2937"/>
                </a:solidFill>
                <a:latin typeface="Calibri"/>
              </a:rPr>
              <a:t>Sub-Saharan Africa household air pollution deaths (~815k/yr)</a:t>
            </a:r>
          </a:p>
        </p:txBody>
      </p:sp>
      <p:sp>
        <p:nvSpPr>
          <p:cNvPr id="12" name="TextBox 11"/>
          <p:cNvSpPr txBox="1"/>
          <p:nvPr/>
        </p:nvSpPr>
        <p:spPr>
          <a:xfrm>
            <a:off x="6583680" y="2395728"/>
            <a:ext cx="5257800" cy="228600"/>
          </a:xfrm>
          <a:prstGeom prst="rect">
            <a:avLst/>
          </a:prstGeom>
          <a:noFill/>
        </p:spPr>
        <p:txBody>
          <a:bodyPr wrap="square" lIns="0" rIns="0" tIns="0" bIns="0" anchor="t">
            <a:spAutoFit/>
          </a:bodyPr>
          <a:lstStyle/>
          <a:p>
            <a:pPr algn="l"/>
            <a:r>
              <a:rPr sz="1000" b="0">
                <a:solidFill>
                  <a:srgbClr val="4B5563"/>
                </a:solidFill>
                <a:latin typeface="Calibri"/>
              </a:rPr>
              <a:t>IEA, Universal Access to Clean Cooking in Africa (2024)</a:t>
            </a:r>
          </a:p>
        </p:txBody>
      </p:sp>
      <p:sp>
        <p:nvSpPr>
          <p:cNvPr id="13" name="Oval 12"/>
          <p:cNvSpPr/>
          <p:nvPr/>
        </p:nvSpPr>
        <p:spPr>
          <a:xfrm>
            <a:off x="594360" y="2834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43200"/>
            <a:ext cx="5257800" cy="228600"/>
          </a:xfrm>
          <a:prstGeom prst="rect">
            <a:avLst/>
          </a:prstGeom>
          <a:noFill/>
        </p:spPr>
        <p:txBody>
          <a:bodyPr wrap="square" lIns="0" rIns="0" tIns="0" bIns="0" anchor="t">
            <a:spAutoFit/>
          </a:bodyPr>
          <a:lstStyle/>
          <a:p>
            <a:pPr algn="l"/>
            <a:r>
              <a:rPr sz="1100" b="1">
                <a:solidFill>
                  <a:srgbClr val="1F2937"/>
                </a:solidFill>
                <a:latin typeface="Calibri"/>
              </a:rPr>
              <a:t>Outdoor air pollution deaths (~4.2M/yr)</a:t>
            </a:r>
          </a:p>
        </p:txBody>
      </p:sp>
      <p:sp>
        <p:nvSpPr>
          <p:cNvPr id="15" name="TextBox 14"/>
          <p:cNvSpPr txBox="1"/>
          <p:nvPr/>
        </p:nvSpPr>
        <p:spPr>
          <a:xfrm>
            <a:off x="777240" y="2944368"/>
            <a:ext cx="5257800" cy="228600"/>
          </a:xfrm>
          <a:prstGeom prst="rect">
            <a:avLst/>
          </a:prstGeom>
          <a:noFill/>
        </p:spPr>
        <p:txBody>
          <a:bodyPr wrap="square" lIns="0" rIns="0" tIns="0" bIns="0" anchor="t">
            <a:spAutoFit/>
          </a:bodyPr>
          <a:lstStyle/>
          <a:p>
            <a:pPr algn="l"/>
            <a:r>
              <a:rPr sz="1000" b="0">
                <a:solidFill>
                  <a:srgbClr val="4B5563"/>
                </a:solidFill>
                <a:latin typeface="Calibri"/>
              </a:rPr>
              <a:t>WHO Ambient Air Pollution</a:t>
            </a:r>
          </a:p>
        </p:txBody>
      </p:sp>
      <p:sp>
        <p:nvSpPr>
          <p:cNvPr id="16" name="Oval 15"/>
          <p:cNvSpPr/>
          <p:nvPr/>
        </p:nvSpPr>
        <p:spPr>
          <a:xfrm>
            <a:off x="6400800" y="283464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74320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electricity access (~600M without; ~730M globally)</a:t>
            </a:r>
          </a:p>
        </p:txBody>
      </p:sp>
      <p:sp>
        <p:nvSpPr>
          <p:cNvPr id="18" name="TextBox 17"/>
          <p:cNvSpPr txBox="1"/>
          <p:nvPr/>
        </p:nvSpPr>
        <p:spPr>
          <a:xfrm>
            <a:off x="6583680" y="2944368"/>
            <a:ext cx="5257800" cy="228600"/>
          </a:xfrm>
          <a:prstGeom prst="rect">
            <a:avLst/>
          </a:prstGeom>
          <a:noFill/>
        </p:spPr>
        <p:txBody>
          <a:bodyPr wrap="square" lIns="0" rIns="0" tIns="0" bIns="0" anchor="t">
            <a:spAutoFit/>
          </a:bodyPr>
          <a:lstStyle/>
          <a:p>
            <a:pPr algn="l"/>
            <a:r>
              <a:rPr sz="1000" b="0">
                <a:solidFill>
                  <a:srgbClr val="4B5563"/>
                </a:solidFill>
                <a:latin typeface="Calibri"/>
              </a:rPr>
              <a:t>IEA, Financing Electricity Access in Africa (2025)</a:t>
            </a:r>
          </a:p>
        </p:txBody>
      </p:sp>
      <p:sp>
        <p:nvSpPr>
          <p:cNvPr id="19" name="Oval 18"/>
          <p:cNvSpPr/>
          <p:nvPr/>
        </p:nvSpPr>
        <p:spPr>
          <a:xfrm>
            <a:off x="594360" y="338328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9184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cumulative CO₂ emissions (&lt;3%; sub-Saharan ~0.55%)</a:t>
            </a:r>
          </a:p>
        </p:txBody>
      </p:sp>
      <p:sp>
        <p:nvSpPr>
          <p:cNvPr id="21" name="TextBox 20"/>
          <p:cNvSpPr txBox="1"/>
          <p:nvPr/>
        </p:nvSpPr>
        <p:spPr>
          <a:xfrm>
            <a:off x="777240" y="3493008"/>
            <a:ext cx="5257800" cy="228600"/>
          </a:xfrm>
          <a:prstGeom prst="rect">
            <a:avLst/>
          </a:prstGeom>
          <a:noFill/>
        </p:spPr>
        <p:txBody>
          <a:bodyPr wrap="square" lIns="0" rIns="0" tIns="0" bIns="0" anchor="t">
            <a:spAutoFit/>
          </a:bodyPr>
          <a:lstStyle/>
          <a:p>
            <a:pPr algn="l"/>
            <a:r>
              <a:rPr sz="1000" b="0">
                <a:solidFill>
                  <a:srgbClr val="4B5563"/>
                </a:solidFill>
                <a:latin typeface="Calibri"/>
              </a:rPr>
              <a:t>Energy for Growth Hub (citing Our World in Data)</a:t>
            </a:r>
          </a:p>
        </p:txBody>
      </p:sp>
      <p:sp>
        <p:nvSpPr>
          <p:cNvPr id="22" name="Oval 21"/>
          <p:cNvSpPr/>
          <p:nvPr/>
        </p:nvSpPr>
        <p:spPr>
          <a:xfrm>
            <a:off x="6400800" y="338328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3291840"/>
            <a:ext cx="5257800" cy="228600"/>
          </a:xfrm>
          <a:prstGeom prst="rect">
            <a:avLst/>
          </a:prstGeom>
          <a:noFill/>
        </p:spPr>
        <p:txBody>
          <a:bodyPr wrap="square" lIns="0" rIns="0" tIns="0" bIns="0" anchor="t">
            <a:spAutoFit/>
          </a:bodyPr>
          <a:lstStyle/>
          <a:p>
            <a:pPr algn="l"/>
            <a:r>
              <a:rPr sz="1100" b="1">
                <a:solidFill>
                  <a:srgbClr val="1F2937"/>
                </a:solidFill>
                <a:latin typeface="Calibri"/>
              </a:rPr>
              <a:t>Africa population share (~17% global)</a:t>
            </a:r>
          </a:p>
        </p:txBody>
      </p:sp>
      <p:sp>
        <p:nvSpPr>
          <p:cNvPr id="24" name="TextBox 23"/>
          <p:cNvSpPr txBox="1"/>
          <p:nvPr/>
        </p:nvSpPr>
        <p:spPr>
          <a:xfrm>
            <a:off x="6583680" y="3493008"/>
            <a:ext cx="5257800" cy="228600"/>
          </a:xfrm>
          <a:prstGeom prst="rect">
            <a:avLst/>
          </a:prstGeom>
          <a:noFill/>
        </p:spPr>
        <p:txBody>
          <a:bodyPr wrap="square" lIns="0" rIns="0" tIns="0" bIns="0" anchor="t">
            <a:spAutoFit/>
          </a:bodyPr>
          <a:lstStyle/>
          <a:p>
            <a:pPr algn="l"/>
            <a:r>
              <a:rPr sz="1000" b="0">
                <a:solidFill>
                  <a:srgbClr val="4B5563"/>
                </a:solidFill>
                <a:latin typeface="Calibri"/>
              </a:rPr>
              <a:t>UN World Population Prospects</a:t>
            </a:r>
          </a:p>
        </p:txBody>
      </p:sp>
      <p:sp>
        <p:nvSpPr>
          <p:cNvPr id="25" name="Oval 24"/>
          <p:cNvSpPr/>
          <p:nvPr/>
        </p:nvSpPr>
        <p:spPr>
          <a:xfrm>
            <a:off x="594360" y="393192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840480"/>
            <a:ext cx="5257800" cy="228600"/>
          </a:xfrm>
          <a:prstGeom prst="rect">
            <a:avLst/>
          </a:prstGeom>
          <a:noFill/>
        </p:spPr>
        <p:txBody>
          <a:bodyPr wrap="square" lIns="0" rIns="0" tIns="0" bIns="0" anchor="t">
            <a:spAutoFit/>
          </a:bodyPr>
          <a:lstStyle/>
          <a:p>
            <a:pPr algn="l"/>
            <a:r>
              <a:rPr sz="1100" b="1">
                <a:solidFill>
                  <a:srgbClr val="1F2937"/>
                </a:solidFill>
                <a:latin typeface="Calibri"/>
              </a:rPr>
              <a:t>Zambia capacity mix (85% hydropower; ~3,986 MW)</a:t>
            </a:r>
          </a:p>
        </p:txBody>
      </p:sp>
      <p:sp>
        <p:nvSpPr>
          <p:cNvPr id="27" name="TextBox 26"/>
          <p:cNvSpPr txBox="1"/>
          <p:nvPr/>
        </p:nvSpPr>
        <p:spPr>
          <a:xfrm>
            <a:off x="777240" y="4041648"/>
            <a:ext cx="5257800" cy="228600"/>
          </a:xfrm>
          <a:prstGeom prst="rect">
            <a:avLst/>
          </a:prstGeom>
          <a:noFill/>
        </p:spPr>
        <p:txBody>
          <a:bodyPr wrap="square" lIns="0" rIns="0" tIns="0" bIns="0" anchor="t">
            <a:spAutoFit/>
          </a:bodyPr>
          <a:lstStyle/>
          <a:p>
            <a:pPr algn="l"/>
            <a:r>
              <a:rPr sz="1000" b="0">
                <a:solidFill>
                  <a:srgbClr val="4B5563"/>
                </a:solidFill>
                <a:latin typeface="Calibri"/>
              </a:rPr>
              <a:t>Global Legal Insights, Energy Laws and Regulations 2025: Zambia</a:t>
            </a:r>
          </a:p>
        </p:txBody>
      </p:sp>
      <p:sp>
        <p:nvSpPr>
          <p:cNvPr id="28" name="Oval 27"/>
          <p:cNvSpPr/>
          <p:nvPr/>
        </p:nvSpPr>
        <p:spPr>
          <a:xfrm>
            <a:off x="6400800" y="393192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840480"/>
            <a:ext cx="5257800" cy="228600"/>
          </a:xfrm>
          <a:prstGeom prst="rect">
            <a:avLst/>
          </a:prstGeom>
          <a:noFill/>
        </p:spPr>
        <p:txBody>
          <a:bodyPr wrap="square" lIns="0" rIns="0" tIns="0" bIns="0" anchor="t">
            <a:spAutoFit/>
          </a:bodyPr>
          <a:lstStyle/>
          <a:p>
            <a:pPr algn="l"/>
            <a:r>
              <a:rPr sz="1100" b="1">
                <a:solidFill>
                  <a:srgbClr val="1F2937"/>
                </a:solidFill>
                <a:latin typeface="Calibri"/>
              </a:rPr>
              <a:t>Zambia 2024 load shedding (up to 21 hrs/day)</a:t>
            </a:r>
          </a:p>
        </p:txBody>
      </p:sp>
      <p:sp>
        <p:nvSpPr>
          <p:cNvPr id="30" name="TextBox 29"/>
          <p:cNvSpPr txBox="1"/>
          <p:nvPr/>
        </p:nvSpPr>
        <p:spPr>
          <a:xfrm>
            <a:off x="6583680" y="4041648"/>
            <a:ext cx="5257800" cy="228600"/>
          </a:xfrm>
          <a:prstGeom prst="rect">
            <a:avLst/>
          </a:prstGeom>
          <a:noFill/>
        </p:spPr>
        <p:txBody>
          <a:bodyPr wrap="square" lIns="0" rIns="0" tIns="0" bIns="0" anchor="t">
            <a:spAutoFit/>
          </a:bodyPr>
          <a:lstStyle/>
          <a:p>
            <a:pPr algn="l"/>
            <a:r>
              <a:rPr sz="1000" b="0">
                <a:solidFill>
                  <a:srgbClr val="4B5563"/>
                </a:solidFill>
                <a:latin typeface="Calibri"/>
              </a:rPr>
              <a:t>Pulitzer Center; Afrobarometer AD1178 (2025)</a:t>
            </a:r>
          </a:p>
        </p:txBody>
      </p:sp>
      <p:sp>
        <p:nvSpPr>
          <p:cNvPr id="31" name="Oval 30"/>
          <p:cNvSpPr/>
          <p:nvPr/>
        </p:nvSpPr>
        <p:spPr>
          <a:xfrm>
            <a:off x="594360" y="44805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389120"/>
            <a:ext cx="5257800" cy="228600"/>
          </a:xfrm>
          <a:prstGeom prst="rect">
            <a:avLst/>
          </a:prstGeom>
          <a:noFill/>
        </p:spPr>
        <p:txBody>
          <a:bodyPr wrap="square" lIns="0" rIns="0" tIns="0" bIns="0" anchor="t">
            <a:spAutoFit/>
          </a:bodyPr>
          <a:lstStyle/>
          <a:p>
            <a:pPr algn="l"/>
            <a:r>
              <a:rPr sz="1100" b="1">
                <a:solidFill>
                  <a:srgbClr val="1F2937"/>
                </a:solidFill>
                <a:latin typeface="Calibri"/>
              </a:rPr>
              <a:t>Natural gas vs coal CO₂ (50–60% less); Africa gas reserves (~13%)</a:t>
            </a:r>
          </a:p>
        </p:txBody>
      </p:sp>
      <p:sp>
        <p:nvSpPr>
          <p:cNvPr id="33" name="TextBox 32"/>
          <p:cNvSpPr txBox="1"/>
          <p:nvPr/>
        </p:nvSpPr>
        <p:spPr>
          <a:xfrm>
            <a:off x="777240" y="4590288"/>
            <a:ext cx="5257800" cy="228600"/>
          </a:xfrm>
          <a:prstGeom prst="rect">
            <a:avLst/>
          </a:prstGeom>
          <a:noFill/>
        </p:spPr>
        <p:txBody>
          <a:bodyPr wrap="square" lIns="0" rIns="0" tIns="0" bIns="0" anchor="t">
            <a:spAutoFit/>
          </a:bodyPr>
          <a:lstStyle/>
          <a:p>
            <a:pPr algn="l"/>
            <a:r>
              <a:rPr sz="1000" b="0">
                <a:solidFill>
                  <a:srgbClr val="4B5563"/>
                </a:solidFill>
                <a:latin typeface="Calibri"/>
              </a:rPr>
              <a:t>Atlantic Council, Natural gas in Africa's energy transition</a:t>
            </a:r>
          </a:p>
        </p:txBody>
      </p:sp>
      <p:sp>
        <p:nvSpPr>
          <p:cNvPr id="34" name="Oval 33"/>
          <p:cNvSpPr/>
          <p:nvPr/>
        </p:nvSpPr>
        <p:spPr>
          <a:xfrm>
            <a:off x="6400800" y="448056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389120"/>
            <a:ext cx="5257800" cy="228600"/>
          </a:xfrm>
          <a:prstGeom prst="rect">
            <a:avLst/>
          </a:prstGeom>
          <a:noFill/>
        </p:spPr>
        <p:txBody>
          <a:bodyPr wrap="square" lIns="0" rIns="0" tIns="0" bIns="0" anchor="t">
            <a:spAutoFit/>
          </a:bodyPr>
          <a:lstStyle/>
          <a:p>
            <a:pPr algn="l"/>
            <a:r>
              <a:rPr sz="1100" b="1">
                <a:solidFill>
                  <a:srgbClr val="1F2937"/>
                </a:solidFill>
                <a:latin typeface="Calibri"/>
              </a:rPr>
              <a:t>Steel &amp; cement embodied emissions in renewables</a:t>
            </a:r>
          </a:p>
        </p:txBody>
      </p:sp>
      <p:sp>
        <p:nvSpPr>
          <p:cNvPr id="36" name="TextBox 35"/>
          <p:cNvSpPr txBox="1"/>
          <p:nvPr/>
        </p:nvSpPr>
        <p:spPr>
          <a:xfrm>
            <a:off x="6583680" y="4590288"/>
            <a:ext cx="5257800" cy="228600"/>
          </a:xfrm>
          <a:prstGeom prst="rect">
            <a:avLst/>
          </a:prstGeom>
          <a:noFill/>
        </p:spPr>
        <p:txBody>
          <a:bodyPr wrap="square" lIns="0" rIns="0" tIns="0" bIns="0" anchor="t">
            <a:spAutoFit/>
          </a:bodyPr>
          <a:lstStyle/>
          <a:p>
            <a:pPr algn="l"/>
            <a:r>
              <a:rPr sz="1000" b="0">
                <a:solidFill>
                  <a:srgbClr val="4B5563"/>
                </a:solidFill>
                <a:latin typeface="Calibri"/>
              </a:rPr>
              <a:t>MIT Climate Portal</a:t>
            </a:r>
          </a:p>
        </p:txBody>
      </p:sp>
      <p:sp>
        <p:nvSpPr>
          <p:cNvPr id="37" name="Oval 36"/>
          <p:cNvSpPr/>
          <p:nvPr/>
        </p:nvSpPr>
        <p:spPr>
          <a:xfrm>
            <a:off x="594360" y="5029200"/>
            <a:ext cx="91440" cy="9144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937760"/>
            <a:ext cx="5257800" cy="228600"/>
          </a:xfrm>
          <a:prstGeom prst="rect">
            <a:avLst/>
          </a:prstGeom>
          <a:noFill/>
        </p:spPr>
        <p:txBody>
          <a:bodyPr wrap="square" lIns="0" rIns="0" tIns="0" bIns="0" anchor="t">
            <a:spAutoFit/>
          </a:bodyPr>
          <a:lstStyle/>
          <a:p>
            <a:pPr algn="l"/>
            <a:r>
              <a:rPr sz="1100" b="1">
                <a:solidFill>
                  <a:srgbClr val="1F2937"/>
                </a:solidFill>
                <a:latin typeface="Calibri"/>
              </a:rPr>
              <a:t>Life expectancy vs electricity per capita (illustrative)</a:t>
            </a:r>
          </a:p>
        </p:txBody>
      </p:sp>
      <p:sp>
        <p:nvSpPr>
          <p:cNvPr id="39" name="TextBox 38"/>
          <p:cNvSpPr txBox="1"/>
          <p:nvPr/>
        </p:nvSpPr>
        <p:spPr>
          <a:xfrm>
            <a:off x="777240" y="5138928"/>
            <a:ext cx="5257800" cy="228600"/>
          </a:xfrm>
          <a:prstGeom prst="rect">
            <a:avLst/>
          </a:prstGeom>
          <a:noFill/>
        </p:spPr>
        <p:txBody>
          <a:bodyPr wrap="square" lIns="0" rIns="0" tIns="0" bIns="0" anchor="t">
            <a:spAutoFit/>
          </a:bodyPr>
          <a:lstStyle/>
          <a:p>
            <a:pPr algn="l"/>
            <a:r>
              <a:rPr sz="1000" b="0">
                <a:solidFill>
                  <a:srgbClr val="4B5563"/>
                </a:solidFill>
                <a:latin typeface="Calibri"/>
              </a:rPr>
              <a:t>World Bank Indicators (kWh/capita; life expectancy at birth)</a:t>
            </a:r>
          </a:p>
        </p:txBody>
      </p:sp>
      <p:sp>
        <p:nvSpPr>
          <p:cNvPr id="40" name="TextBox 39"/>
          <p:cNvSpPr txBox="1"/>
          <p:nvPr/>
        </p:nvSpPr>
        <p:spPr>
          <a:xfrm>
            <a:off x="457200" y="6537960"/>
            <a:ext cx="7315200" cy="274320"/>
          </a:xfrm>
          <a:prstGeom prst="rect">
            <a:avLst/>
          </a:prstGeom>
          <a:noFill/>
        </p:spPr>
        <p:txBody>
          <a:bodyPr wrap="square" lIns="0" rIns="0" tIns="0" bIns="0" anchor="t">
            <a:spAutoFit/>
          </a:bodyPr>
          <a:lstStyle/>
          <a:p>
            <a:pPr algn="l"/>
            <a:r>
              <a:rPr sz="900" b="0">
                <a:solidFill>
                  <a:srgbClr val="9CA3AF"/>
                </a:solidFill>
                <a:latin typeface="Calibri"/>
              </a:rPr>
              <a:t>Choolwe  •  The Case For Fossil Fuels</a:t>
            </a:r>
          </a:p>
        </p:txBody>
      </p:sp>
      <p:sp>
        <p:nvSpPr>
          <p:cNvPr id="41" name="TextBox 40"/>
          <p:cNvSpPr txBox="1"/>
          <p:nvPr/>
        </p:nvSpPr>
        <p:spPr>
          <a:xfrm>
            <a:off x="10789920" y="6537960"/>
            <a:ext cx="1097280" cy="274320"/>
          </a:xfrm>
          <a:prstGeom prst="rect">
            <a:avLst/>
          </a:prstGeom>
          <a:noFill/>
        </p:spPr>
        <p:txBody>
          <a:bodyPr wrap="square" lIns="0" rIns="0" tIns="0" bIns="0" anchor="t">
            <a:spAutoFit/>
          </a:bodyPr>
          <a:lstStyle/>
          <a:p>
            <a:pPr algn="r"/>
            <a:r>
              <a:rPr sz="900" b="0">
                <a:solidFill>
                  <a:srgbClr val="9CA3AF"/>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